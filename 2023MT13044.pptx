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 id="2147483652" r:id="rId3"/>
  </p:sldMasterIdLst>
  <p:notesMasterIdLst>
    <p:notesMasterId r:id="rId22"/>
  </p:notesMasterIdLst>
  <p:sldIdLst>
    <p:sldId id="256" r:id="rId4"/>
    <p:sldId id="257" r:id="rId5"/>
    <p:sldId id="258" r:id="rId6"/>
    <p:sldId id="260" r:id="rId7"/>
    <p:sldId id="259" r:id="rId8"/>
    <p:sldId id="261" r:id="rId9"/>
    <p:sldId id="262" r:id="rId10"/>
    <p:sldId id="264" r:id="rId11"/>
    <p:sldId id="267" r:id="rId12"/>
    <p:sldId id="268" r:id="rId13"/>
    <p:sldId id="269" r:id="rId14"/>
    <p:sldId id="265" r:id="rId15"/>
    <p:sldId id="270" r:id="rId16"/>
    <p:sldId id="271" r:id="rId17"/>
    <p:sldId id="266" r:id="rId18"/>
    <p:sldId id="272" r:id="rId19"/>
    <p:sldId id="273" r:id="rId20"/>
    <p:sldId id="263"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OHQD0cCLqVFblJIVmS0aUmxpV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8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878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 name="Google Shape;63;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73714e7194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73714e7194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373714e7194_0_6:notes"/>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73714e7194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73714e7194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g373714e7194_0_12:notes"/>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73714e719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3714e7194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373714e7194_0_0:notes"/>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07B524C7-B319-1F0D-1B9B-B97B635BDFBA}"/>
            </a:ext>
          </a:extLst>
        </p:cNvPr>
        <p:cNvGrpSpPr/>
        <p:nvPr/>
      </p:nvGrpSpPr>
      <p:grpSpPr>
        <a:xfrm>
          <a:off x="0" y="0"/>
          <a:ext cx="0" cy="0"/>
          <a:chOff x="0" y="0"/>
          <a:chExt cx="0" cy="0"/>
        </a:xfrm>
      </p:grpSpPr>
      <p:sp>
        <p:nvSpPr>
          <p:cNvPr id="74" name="Google Shape;74;g373714e7194_0_0:notes">
            <a:extLst>
              <a:ext uri="{FF2B5EF4-FFF2-40B4-BE49-F238E27FC236}">
                <a16:creationId xmlns:a16="http://schemas.microsoft.com/office/drawing/2014/main" id="{6E982F2E-354F-63BC-3107-0CD46A2FE61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3714e7194_0_0:notes">
            <a:extLst>
              <a:ext uri="{FF2B5EF4-FFF2-40B4-BE49-F238E27FC236}">
                <a16:creationId xmlns:a16="http://schemas.microsoft.com/office/drawing/2014/main" id="{F339FE93-9413-0919-1771-5EF0BC82B96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373714e7194_0_0:notes">
            <a:extLst>
              <a:ext uri="{FF2B5EF4-FFF2-40B4-BE49-F238E27FC236}">
                <a16:creationId xmlns:a16="http://schemas.microsoft.com/office/drawing/2014/main" id="{2236F393-1A6B-8ADB-C1F5-652EC4779142}"/>
              </a:ext>
            </a:extLst>
          </p:cNvPr>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sz="1400"/>
          </a:p>
        </p:txBody>
      </p:sp>
    </p:spTree>
    <p:extLst>
      <p:ext uri="{BB962C8B-B14F-4D97-AF65-F5344CB8AC3E}">
        <p14:creationId xmlns:p14="http://schemas.microsoft.com/office/powerpoint/2010/main" val="3426060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4DA1B69F-AEB1-4EF5-07A4-AE8225E0B5C5}"/>
            </a:ext>
          </a:extLst>
        </p:cNvPr>
        <p:cNvGrpSpPr/>
        <p:nvPr/>
      </p:nvGrpSpPr>
      <p:grpSpPr>
        <a:xfrm>
          <a:off x="0" y="0"/>
          <a:ext cx="0" cy="0"/>
          <a:chOff x="0" y="0"/>
          <a:chExt cx="0" cy="0"/>
        </a:xfrm>
      </p:grpSpPr>
      <p:sp>
        <p:nvSpPr>
          <p:cNvPr id="74" name="Google Shape;74;g373714e7194_0_0:notes">
            <a:extLst>
              <a:ext uri="{FF2B5EF4-FFF2-40B4-BE49-F238E27FC236}">
                <a16:creationId xmlns:a16="http://schemas.microsoft.com/office/drawing/2014/main" id="{F630E385-77F8-1B1D-864B-AD6B5F7FB16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3714e7194_0_0:notes">
            <a:extLst>
              <a:ext uri="{FF2B5EF4-FFF2-40B4-BE49-F238E27FC236}">
                <a16:creationId xmlns:a16="http://schemas.microsoft.com/office/drawing/2014/main" id="{A4EAFDB9-FB6F-5BE9-52FB-45D064577AA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373714e7194_0_0:notes">
            <a:extLst>
              <a:ext uri="{FF2B5EF4-FFF2-40B4-BE49-F238E27FC236}">
                <a16:creationId xmlns:a16="http://schemas.microsoft.com/office/drawing/2014/main" id="{7191658A-0A43-1160-EFC0-184DD7CBD14B}"/>
              </a:ext>
            </a:extLst>
          </p:cNvPr>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sz="1400"/>
          </a:p>
        </p:txBody>
      </p:sp>
    </p:spTree>
    <p:extLst>
      <p:ext uri="{BB962C8B-B14F-4D97-AF65-F5344CB8AC3E}">
        <p14:creationId xmlns:p14="http://schemas.microsoft.com/office/powerpoint/2010/main" val="2546025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C76E6C75-8240-91FC-023F-EEFBF0364A1B}"/>
            </a:ext>
          </a:extLst>
        </p:cNvPr>
        <p:cNvGrpSpPr/>
        <p:nvPr/>
      </p:nvGrpSpPr>
      <p:grpSpPr>
        <a:xfrm>
          <a:off x="0" y="0"/>
          <a:ext cx="0" cy="0"/>
          <a:chOff x="0" y="0"/>
          <a:chExt cx="0" cy="0"/>
        </a:xfrm>
      </p:grpSpPr>
      <p:sp>
        <p:nvSpPr>
          <p:cNvPr id="74" name="Google Shape;74;g373714e7194_0_0:notes">
            <a:extLst>
              <a:ext uri="{FF2B5EF4-FFF2-40B4-BE49-F238E27FC236}">
                <a16:creationId xmlns:a16="http://schemas.microsoft.com/office/drawing/2014/main" id="{D001DD6C-9C6E-671D-172E-647BEED6DB8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3714e7194_0_0:notes">
            <a:extLst>
              <a:ext uri="{FF2B5EF4-FFF2-40B4-BE49-F238E27FC236}">
                <a16:creationId xmlns:a16="http://schemas.microsoft.com/office/drawing/2014/main" id="{843B7385-7E52-9CC6-962D-D7A0F57AD34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373714e7194_0_0:notes">
            <a:extLst>
              <a:ext uri="{FF2B5EF4-FFF2-40B4-BE49-F238E27FC236}">
                <a16:creationId xmlns:a16="http://schemas.microsoft.com/office/drawing/2014/main" id="{A11445F9-4711-A56B-81F6-CC60C1FC8940}"/>
              </a:ext>
            </a:extLst>
          </p:cNvPr>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sz="1400"/>
          </a:p>
        </p:txBody>
      </p:sp>
    </p:spTree>
    <p:extLst>
      <p:ext uri="{BB962C8B-B14F-4D97-AF65-F5344CB8AC3E}">
        <p14:creationId xmlns:p14="http://schemas.microsoft.com/office/powerpoint/2010/main" val="3107120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388601F7-1739-6D01-FC48-C08AA40CB765}"/>
            </a:ext>
          </a:extLst>
        </p:cNvPr>
        <p:cNvGrpSpPr/>
        <p:nvPr/>
      </p:nvGrpSpPr>
      <p:grpSpPr>
        <a:xfrm>
          <a:off x="0" y="0"/>
          <a:ext cx="0" cy="0"/>
          <a:chOff x="0" y="0"/>
          <a:chExt cx="0" cy="0"/>
        </a:xfrm>
      </p:grpSpPr>
      <p:sp>
        <p:nvSpPr>
          <p:cNvPr id="74" name="Google Shape;74;g373714e7194_0_0:notes">
            <a:extLst>
              <a:ext uri="{FF2B5EF4-FFF2-40B4-BE49-F238E27FC236}">
                <a16:creationId xmlns:a16="http://schemas.microsoft.com/office/drawing/2014/main" id="{26110028-DB85-EB6E-FD56-0A43DF7925B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3714e7194_0_0:notes">
            <a:extLst>
              <a:ext uri="{FF2B5EF4-FFF2-40B4-BE49-F238E27FC236}">
                <a16:creationId xmlns:a16="http://schemas.microsoft.com/office/drawing/2014/main" id="{80BA9B34-1E21-C69D-38D3-B4776683881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373714e7194_0_0:notes">
            <a:extLst>
              <a:ext uri="{FF2B5EF4-FFF2-40B4-BE49-F238E27FC236}">
                <a16:creationId xmlns:a16="http://schemas.microsoft.com/office/drawing/2014/main" id="{F5E27A9B-1275-E15C-942B-F948041CE589}"/>
              </a:ext>
            </a:extLst>
          </p:cNvPr>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sz="1400"/>
          </a:p>
        </p:txBody>
      </p:sp>
    </p:spTree>
    <p:extLst>
      <p:ext uri="{BB962C8B-B14F-4D97-AF65-F5344CB8AC3E}">
        <p14:creationId xmlns:p14="http://schemas.microsoft.com/office/powerpoint/2010/main" val="4294688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8B2C8B54-950D-29D0-C875-41317E6D0A51}"/>
            </a:ext>
          </a:extLst>
        </p:cNvPr>
        <p:cNvGrpSpPr/>
        <p:nvPr/>
      </p:nvGrpSpPr>
      <p:grpSpPr>
        <a:xfrm>
          <a:off x="0" y="0"/>
          <a:ext cx="0" cy="0"/>
          <a:chOff x="0" y="0"/>
          <a:chExt cx="0" cy="0"/>
        </a:xfrm>
      </p:grpSpPr>
      <p:sp>
        <p:nvSpPr>
          <p:cNvPr id="74" name="Google Shape;74;g373714e7194_0_0:notes">
            <a:extLst>
              <a:ext uri="{FF2B5EF4-FFF2-40B4-BE49-F238E27FC236}">
                <a16:creationId xmlns:a16="http://schemas.microsoft.com/office/drawing/2014/main" id="{300961ED-A0A3-2ECA-C2FF-015E49ADE65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3714e7194_0_0:notes">
            <a:extLst>
              <a:ext uri="{FF2B5EF4-FFF2-40B4-BE49-F238E27FC236}">
                <a16:creationId xmlns:a16="http://schemas.microsoft.com/office/drawing/2014/main" id="{1B5186A3-DADC-C47A-705D-3C651377847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373714e7194_0_0:notes">
            <a:extLst>
              <a:ext uri="{FF2B5EF4-FFF2-40B4-BE49-F238E27FC236}">
                <a16:creationId xmlns:a16="http://schemas.microsoft.com/office/drawing/2014/main" id="{FD651367-8FB4-551C-F6B5-96A783DF2A63}"/>
              </a:ext>
            </a:extLst>
          </p:cNvPr>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15</a:t>
            </a:fld>
            <a:endParaRPr sz="1400"/>
          </a:p>
        </p:txBody>
      </p:sp>
    </p:spTree>
    <p:extLst>
      <p:ext uri="{BB962C8B-B14F-4D97-AF65-F5344CB8AC3E}">
        <p14:creationId xmlns:p14="http://schemas.microsoft.com/office/powerpoint/2010/main" val="4102908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44BA65BD-3C50-7C61-C1CE-4084FFDAA23D}"/>
            </a:ext>
          </a:extLst>
        </p:cNvPr>
        <p:cNvGrpSpPr/>
        <p:nvPr/>
      </p:nvGrpSpPr>
      <p:grpSpPr>
        <a:xfrm>
          <a:off x="0" y="0"/>
          <a:ext cx="0" cy="0"/>
          <a:chOff x="0" y="0"/>
          <a:chExt cx="0" cy="0"/>
        </a:xfrm>
      </p:grpSpPr>
      <p:sp>
        <p:nvSpPr>
          <p:cNvPr id="74" name="Google Shape;74;g373714e7194_0_0:notes">
            <a:extLst>
              <a:ext uri="{FF2B5EF4-FFF2-40B4-BE49-F238E27FC236}">
                <a16:creationId xmlns:a16="http://schemas.microsoft.com/office/drawing/2014/main" id="{2F73094D-AED6-8053-79BE-5FB42D0795F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3714e7194_0_0:notes">
            <a:extLst>
              <a:ext uri="{FF2B5EF4-FFF2-40B4-BE49-F238E27FC236}">
                <a16:creationId xmlns:a16="http://schemas.microsoft.com/office/drawing/2014/main" id="{53F95B43-59E5-B079-98C6-B04E65B8B7A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373714e7194_0_0:notes">
            <a:extLst>
              <a:ext uri="{FF2B5EF4-FFF2-40B4-BE49-F238E27FC236}">
                <a16:creationId xmlns:a16="http://schemas.microsoft.com/office/drawing/2014/main" id="{6EB881E0-B985-83F5-0C7B-1FF4B6726B7A}"/>
              </a:ext>
            </a:extLst>
          </p:cNvPr>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sz="1400"/>
          </a:p>
        </p:txBody>
      </p:sp>
    </p:spTree>
    <p:extLst>
      <p:ext uri="{BB962C8B-B14F-4D97-AF65-F5344CB8AC3E}">
        <p14:creationId xmlns:p14="http://schemas.microsoft.com/office/powerpoint/2010/main" val="3834166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7698F035-8113-E836-3061-FD5BCFCF5392}"/>
            </a:ext>
          </a:extLst>
        </p:cNvPr>
        <p:cNvGrpSpPr/>
        <p:nvPr/>
      </p:nvGrpSpPr>
      <p:grpSpPr>
        <a:xfrm>
          <a:off x="0" y="0"/>
          <a:ext cx="0" cy="0"/>
          <a:chOff x="0" y="0"/>
          <a:chExt cx="0" cy="0"/>
        </a:xfrm>
      </p:grpSpPr>
      <p:sp>
        <p:nvSpPr>
          <p:cNvPr id="74" name="Google Shape;74;g373714e7194_0_0:notes">
            <a:extLst>
              <a:ext uri="{FF2B5EF4-FFF2-40B4-BE49-F238E27FC236}">
                <a16:creationId xmlns:a16="http://schemas.microsoft.com/office/drawing/2014/main" id="{7DAC3311-B303-41FE-E206-6CE0A9D9558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3714e7194_0_0:notes">
            <a:extLst>
              <a:ext uri="{FF2B5EF4-FFF2-40B4-BE49-F238E27FC236}">
                <a16:creationId xmlns:a16="http://schemas.microsoft.com/office/drawing/2014/main" id="{DFE50885-3A34-A837-B6D3-21EA4D2118D6}"/>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373714e7194_0_0:notes">
            <a:extLst>
              <a:ext uri="{FF2B5EF4-FFF2-40B4-BE49-F238E27FC236}">
                <a16:creationId xmlns:a16="http://schemas.microsoft.com/office/drawing/2014/main" id="{7C03A0ED-0F42-5A23-FE4F-DB44FCFB16BB}"/>
              </a:ext>
            </a:extLst>
          </p:cNvPr>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sz="1400"/>
          </a:p>
        </p:txBody>
      </p:sp>
    </p:spTree>
    <p:extLst>
      <p:ext uri="{BB962C8B-B14F-4D97-AF65-F5344CB8AC3E}">
        <p14:creationId xmlns:p14="http://schemas.microsoft.com/office/powerpoint/2010/main" val="1815432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70EC4589-E1AB-2CD6-6496-45135B5BE389}"/>
            </a:ext>
          </a:extLst>
        </p:cNvPr>
        <p:cNvGrpSpPr/>
        <p:nvPr/>
      </p:nvGrpSpPr>
      <p:grpSpPr>
        <a:xfrm>
          <a:off x="0" y="0"/>
          <a:ext cx="0" cy="0"/>
          <a:chOff x="0" y="0"/>
          <a:chExt cx="0" cy="0"/>
        </a:xfrm>
      </p:grpSpPr>
      <p:sp>
        <p:nvSpPr>
          <p:cNvPr id="74" name="Google Shape;74;g373714e7194_0_0:notes">
            <a:extLst>
              <a:ext uri="{FF2B5EF4-FFF2-40B4-BE49-F238E27FC236}">
                <a16:creationId xmlns:a16="http://schemas.microsoft.com/office/drawing/2014/main" id="{6881CD10-AF38-91C7-0E35-9431E26157C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3714e7194_0_0:notes">
            <a:extLst>
              <a:ext uri="{FF2B5EF4-FFF2-40B4-BE49-F238E27FC236}">
                <a16:creationId xmlns:a16="http://schemas.microsoft.com/office/drawing/2014/main" id="{4DC338E3-430C-4058-5AEB-440C29A60E0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373714e7194_0_0:notes">
            <a:extLst>
              <a:ext uri="{FF2B5EF4-FFF2-40B4-BE49-F238E27FC236}">
                <a16:creationId xmlns:a16="http://schemas.microsoft.com/office/drawing/2014/main" id="{921E0C20-4F3F-1B04-67C5-A9B06EADBBF1}"/>
              </a:ext>
            </a:extLst>
          </p:cNvPr>
          <p:cNvSpPr txBox="1">
            <a:spLocks noGrp="1"/>
          </p:cNvSpPr>
          <p:nvPr>
            <p:ph type="sldNum" idx="12"/>
          </p:nvPr>
        </p:nvSpPr>
        <p:spPr>
          <a:xfrm>
            <a:off x="3884612" y="8685212"/>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sz="1400"/>
          </a:p>
        </p:txBody>
      </p:sp>
    </p:spTree>
    <p:extLst>
      <p:ext uri="{BB962C8B-B14F-4D97-AF65-F5344CB8AC3E}">
        <p14:creationId xmlns:p14="http://schemas.microsoft.com/office/powerpoint/2010/main" val="523642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9"/>
        <p:cNvGrpSpPr/>
        <p:nvPr/>
      </p:nvGrpSpPr>
      <p:grpSpPr>
        <a:xfrm>
          <a:off x="0" y="0"/>
          <a:ext cx="0" cy="0"/>
          <a:chOff x="0" y="0"/>
          <a:chExt cx="0" cy="0"/>
        </a:xfrm>
      </p:grpSpPr>
      <p:sp>
        <p:nvSpPr>
          <p:cNvPr id="20" name="Google Shape;20;p56"/>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56"/>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3"/>
        <p:cNvGrpSpPr/>
        <p:nvPr/>
      </p:nvGrpSpPr>
      <p:grpSpPr>
        <a:xfrm>
          <a:off x="0" y="0"/>
          <a:ext cx="0" cy="0"/>
          <a:chOff x="0" y="0"/>
          <a:chExt cx="0" cy="0"/>
        </a:xfrm>
      </p:grpSpPr>
      <p:sp>
        <p:nvSpPr>
          <p:cNvPr id="34" name="Google Shape;34;p58"/>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lvl1pPr marL="457200" lvl="0" indent="-228600" algn="l">
              <a:lnSpc>
                <a:spcPct val="104999"/>
              </a:lnSpc>
              <a:spcBef>
                <a:spcPts val="0"/>
              </a:spcBef>
              <a:spcAft>
                <a:spcPts val="0"/>
              </a:spcAft>
              <a:buClr>
                <a:schemeClr val="dk1"/>
              </a:buClr>
              <a:buSzPts val="4000"/>
              <a:buNone/>
              <a:defRPr sz="40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2"/>
        <p:cNvGrpSpPr/>
        <p:nvPr/>
      </p:nvGrpSpPr>
      <p:grpSpPr>
        <a:xfrm>
          <a:off x="0" y="0"/>
          <a:ext cx="0" cy="0"/>
          <a:chOff x="0" y="0"/>
          <a:chExt cx="0" cy="0"/>
        </a:xfrm>
      </p:grpSpPr>
      <p:sp>
        <p:nvSpPr>
          <p:cNvPr id="53" name="Google Shape;53;p60"/>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4" name="Google Shape;54;p6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55"/>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 name="Google Shape;11;p55"/>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 name="Google Shape;12;p55"/>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 name="Google Shape;13;p55"/>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 name="Google Shape;14;p55" descr="BITS_university_logo_whitevert.png"/>
          <p:cNvPicPr preferRelativeResize="0"/>
          <p:nvPr/>
        </p:nvPicPr>
        <p:blipFill rotWithShape="1">
          <a:blip r:embed="rId4">
            <a:alphaModFix/>
          </a:blip>
          <a:srcRect t="1" b="28591"/>
          <a:stretch/>
        </p:blipFill>
        <p:spPr>
          <a:xfrm>
            <a:off x="76200" y="3352800"/>
            <a:ext cx="2057400" cy="1979612"/>
          </a:xfrm>
          <a:prstGeom prst="rect">
            <a:avLst/>
          </a:prstGeom>
          <a:noFill/>
          <a:ln>
            <a:noFill/>
          </a:ln>
        </p:spPr>
      </p:pic>
      <p:sp>
        <p:nvSpPr>
          <p:cNvPr id="15" name="Google Shape;15;p55"/>
          <p:cNvSpPr txBox="1"/>
          <p:nvPr/>
        </p:nvSpPr>
        <p:spPr>
          <a:xfrm>
            <a:off x="-76200" y="5257800"/>
            <a:ext cx="2209800" cy="55403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900"/>
              <a:buFont typeface="Arial"/>
              <a:buNone/>
            </a:pPr>
            <a:r>
              <a:rPr lang="en-US" sz="2900" b="1" i="0" u="none">
                <a:solidFill>
                  <a:schemeClr val="lt1"/>
                </a:solidFill>
                <a:latin typeface="Arial"/>
                <a:ea typeface="Arial"/>
                <a:cs typeface="Arial"/>
                <a:sym typeface="Arial"/>
              </a:rPr>
              <a:t>BITS</a:t>
            </a:r>
            <a:r>
              <a:rPr lang="en-US" sz="2900" b="0" i="0" u="none">
                <a:solidFill>
                  <a:schemeClr val="lt1"/>
                </a:solidFill>
                <a:latin typeface="Arial"/>
                <a:ea typeface="Arial"/>
                <a:cs typeface="Arial"/>
                <a:sym typeface="Arial"/>
              </a:rPr>
              <a:t> Pilani</a:t>
            </a:r>
            <a:endParaRPr/>
          </a:p>
        </p:txBody>
      </p:sp>
      <p:sp>
        <p:nvSpPr>
          <p:cNvPr id="16" name="Google Shape;16;p55"/>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Pilani Campus</a:t>
            </a:r>
            <a:endParaRPr/>
          </a:p>
        </p:txBody>
      </p:sp>
      <p:sp>
        <p:nvSpPr>
          <p:cNvPr id="17" name="Google Shape;17;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8" name="Google Shape;18;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pic>
        <p:nvPicPr>
          <p:cNvPr id="23" name="Google Shape;23;p57" descr="\\Server\D\jyoti\FI023_BITS_v1\styleguide img\IMG_5627_b.jpg"/>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24" name="Google Shape;24;p57"/>
          <p:cNvSpPr txBox="1"/>
          <p:nvPr/>
        </p:nvSpPr>
        <p:spPr>
          <a:xfrm>
            <a:off x="0" y="4281487"/>
            <a:ext cx="9144000" cy="2576512"/>
          </a:xfrm>
          <a:prstGeom prst="rect">
            <a:avLst/>
          </a:prstGeom>
          <a:solidFill>
            <a:schemeClr val="lt1"/>
          </a:solidFill>
          <a:ln w="9525" cap="flat" cmpd="sng">
            <a:solidFill>
              <a:srgbClr val="4A7EBB"/>
            </a:solidFill>
            <a:prstDash val="solid"/>
            <a:miter lim="800000"/>
            <a:headEnd type="none" w="sm" len="sm"/>
            <a:tailEnd type="none" w="sm" len="sm"/>
          </a:ln>
          <a:effectLst>
            <a:outerShdw blurRad="63500" dist="23000" dir="5400000">
              <a:srgbClr val="000000">
                <a:alpha val="34901"/>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25" name="Google Shape;25;p57" descr="Picture 7.png"/>
          <p:cNvPicPr preferRelativeResize="0"/>
          <p:nvPr/>
        </p:nvPicPr>
        <p:blipFill rotWithShape="1">
          <a:blip r:embed="rId4">
            <a:alphaModFix/>
          </a:blip>
          <a:srcRect l="1921" b="5334"/>
          <a:stretch/>
        </p:blipFill>
        <p:spPr>
          <a:xfrm>
            <a:off x="6629400" y="0"/>
            <a:ext cx="2193925" cy="692150"/>
          </a:xfrm>
          <a:prstGeom prst="rect">
            <a:avLst/>
          </a:prstGeom>
          <a:noFill/>
          <a:ln>
            <a:noFill/>
          </a:ln>
        </p:spPr>
      </p:pic>
      <p:sp>
        <p:nvSpPr>
          <p:cNvPr id="26" name="Google Shape;26;p57"/>
          <p:cNvSpPr txBox="1"/>
          <p:nvPr/>
        </p:nvSpPr>
        <p:spPr>
          <a:xfrm>
            <a:off x="2882900" y="677545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7" name="Google Shape;27;p57"/>
          <p:cNvSpPr txBox="1"/>
          <p:nvPr/>
        </p:nvSpPr>
        <p:spPr>
          <a:xfrm>
            <a:off x="-12700" y="677545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8" name="Google Shape;28;p57"/>
          <p:cNvSpPr txBox="1"/>
          <p:nvPr/>
        </p:nvSpPr>
        <p:spPr>
          <a:xfrm>
            <a:off x="5778500" y="677545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 name="Google Shape;29;p57"/>
          <p:cNvSpPr txBox="1"/>
          <p:nvPr/>
        </p:nvSpPr>
        <p:spPr>
          <a:xfrm>
            <a:off x="6858000" y="762000"/>
            <a:ext cx="2209800" cy="55403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900"/>
              <a:buFont typeface="Arial"/>
              <a:buNone/>
            </a:pPr>
            <a:r>
              <a:rPr lang="en-US" sz="2900" b="1" i="0" u="none">
                <a:solidFill>
                  <a:schemeClr val="lt1"/>
                </a:solidFill>
                <a:latin typeface="Arial"/>
                <a:ea typeface="Arial"/>
                <a:cs typeface="Arial"/>
                <a:sym typeface="Arial"/>
              </a:rPr>
              <a:t>BITS</a:t>
            </a:r>
            <a:r>
              <a:rPr lang="en-US" sz="2900" b="0" i="0" u="none">
                <a:solidFill>
                  <a:schemeClr val="lt1"/>
                </a:solidFill>
                <a:latin typeface="Arial"/>
                <a:ea typeface="Arial"/>
                <a:cs typeface="Arial"/>
                <a:sym typeface="Arial"/>
              </a:rPr>
              <a:t> Pilani</a:t>
            </a:r>
            <a:endParaRPr/>
          </a:p>
        </p:txBody>
      </p:sp>
      <p:sp>
        <p:nvSpPr>
          <p:cNvPr id="30" name="Google Shape;30;p57"/>
          <p:cNvSpPr txBox="1"/>
          <p:nvPr/>
        </p:nvSpPr>
        <p:spPr>
          <a:xfrm>
            <a:off x="7086600" y="11715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Pilani Campus</a:t>
            </a:r>
            <a:endParaRPr/>
          </a:p>
        </p:txBody>
      </p:sp>
      <p:sp>
        <p:nvSpPr>
          <p:cNvPr id="31" name="Google Shape;31;p5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32" name="Google Shape;32;p5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
        <p:cNvGrpSpPr/>
        <p:nvPr/>
      </p:nvGrpSpPr>
      <p:grpSpPr>
        <a:xfrm>
          <a:off x="0" y="0"/>
          <a:ext cx="0" cy="0"/>
          <a:chOff x="0" y="0"/>
          <a:chExt cx="0" cy="0"/>
        </a:xfrm>
      </p:grpSpPr>
      <p:sp>
        <p:nvSpPr>
          <p:cNvPr id="36" name="Google Shape;36;p59"/>
          <p:cNvSpPr txBox="1"/>
          <p:nvPr/>
        </p:nvSpPr>
        <p:spPr>
          <a:xfrm>
            <a:off x="3276600" y="6596062"/>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a:solidFill>
                  <a:srgbClr val="101141"/>
                </a:solidFill>
                <a:latin typeface="Arial"/>
                <a:ea typeface="Arial"/>
                <a:cs typeface="Arial"/>
                <a:sym typeface="Arial"/>
              </a:rPr>
              <a:t>BITS </a:t>
            </a:r>
            <a:r>
              <a:rPr lang="en-US" sz="1100" b="0" i="0" u="none">
                <a:solidFill>
                  <a:srgbClr val="101141"/>
                </a:solidFill>
                <a:latin typeface="Arial"/>
                <a:ea typeface="Arial"/>
                <a:cs typeface="Arial"/>
                <a:sym typeface="Arial"/>
              </a:rPr>
              <a:t>Pilani, Pilani Campus</a:t>
            </a:r>
            <a:endParaRPr/>
          </a:p>
        </p:txBody>
      </p:sp>
      <p:grpSp>
        <p:nvGrpSpPr>
          <p:cNvPr id="37" name="Google Shape;37;p59"/>
          <p:cNvGrpSpPr/>
          <p:nvPr/>
        </p:nvGrpSpPr>
        <p:grpSpPr>
          <a:xfrm>
            <a:off x="2084387" y="6550025"/>
            <a:ext cx="7059612" cy="49212"/>
            <a:chOff x="2083888" y="6550671"/>
            <a:chExt cx="7060112" cy="48665"/>
          </a:xfrm>
        </p:grpSpPr>
        <p:sp>
          <p:nvSpPr>
            <p:cNvPr id="38" name="Google Shape;38;p59"/>
            <p:cNvSpPr txBox="1"/>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 name="Google Shape;39;p59"/>
            <p:cNvSpPr txBox="1"/>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0" name="Google Shape;40;p59"/>
            <p:cNvSpPr txBox="1"/>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pic>
        <p:nvPicPr>
          <p:cNvPr id="41" name="Google Shape;41;p59" descr="Picture 7.png"/>
          <p:cNvPicPr preferRelativeResize="0"/>
          <p:nvPr/>
        </p:nvPicPr>
        <p:blipFill rotWithShape="1">
          <a:blip r:embed="rId3">
            <a:alphaModFix/>
          </a:blip>
          <a:srcRect l="1921" b="5334"/>
          <a:stretch/>
        </p:blipFill>
        <p:spPr>
          <a:xfrm>
            <a:off x="6629400" y="0"/>
            <a:ext cx="2193925" cy="692150"/>
          </a:xfrm>
          <a:prstGeom prst="rect">
            <a:avLst/>
          </a:prstGeom>
          <a:noFill/>
          <a:ln>
            <a:noFill/>
          </a:ln>
        </p:spPr>
      </p:pic>
      <p:grpSp>
        <p:nvGrpSpPr>
          <p:cNvPr id="42" name="Google Shape;42;p59"/>
          <p:cNvGrpSpPr/>
          <p:nvPr/>
        </p:nvGrpSpPr>
        <p:grpSpPr>
          <a:xfrm>
            <a:off x="2133600" y="6553200"/>
            <a:ext cx="7010400" cy="46037"/>
            <a:chOff x="1905000" y="6553200"/>
            <a:chExt cx="7010400" cy="45719"/>
          </a:xfrm>
        </p:grpSpPr>
        <p:sp>
          <p:nvSpPr>
            <p:cNvPr id="43" name="Google Shape;43;p59"/>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4" name="Google Shape;44;p59"/>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5" name="Google Shape;45;p59"/>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grpSp>
        <p:nvGrpSpPr>
          <p:cNvPr id="46" name="Google Shape;46;p59"/>
          <p:cNvGrpSpPr/>
          <p:nvPr/>
        </p:nvGrpSpPr>
        <p:grpSpPr>
          <a:xfrm>
            <a:off x="0" y="1295400"/>
            <a:ext cx="7010400" cy="46037"/>
            <a:chOff x="1905000" y="6553200"/>
            <a:chExt cx="7010400" cy="45719"/>
          </a:xfrm>
        </p:grpSpPr>
        <p:sp>
          <p:nvSpPr>
            <p:cNvPr id="47" name="Google Shape;47;p59"/>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8" name="Google Shape;48;p59"/>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9" name="Google Shape;49;p59"/>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50" name="Google Shape;50;p5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51" name="Google Shape;51;p5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9.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p>
            <a:pPr marL="0" lvl="0" indent="0" algn="l" rtl="0">
              <a:lnSpc>
                <a:spcPct val="90909"/>
              </a:lnSpc>
              <a:spcBef>
                <a:spcPts val="0"/>
              </a:spcBef>
              <a:spcAft>
                <a:spcPts val="0"/>
              </a:spcAft>
              <a:buClr>
                <a:schemeClr val="lt1"/>
              </a:buClr>
              <a:buSzPts val="4400"/>
              <a:buFont typeface="Arial"/>
              <a:buNone/>
            </a:pPr>
            <a:r>
              <a:rPr lang="en-US"/>
              <a:t>Dissertation Outline</a:t>
            </a:r>
            <a:br>
              <a:rPr lang="en-US"/>
            </a:br>
            <a:r>
              <a:rPr lang="en-US"/>
              <a:t>(SSZG628T)</a:t>
            </a:r>
            <a:endParaRPr/>
          </a:p>
        </p:txBody>
      </p:sp>
      <p:sp>
        <p:nvSpPr>
          <p:cNvPr id="60" name="Google Shape;60;p1"/>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800"/>
              <a:buFont typeface="Arial"/>
              <a:buNone/>
            </a:pPr>
            <a:r>
              <a:rPr lang="en-US"/>
              <a:t>Jeffrey Marius</a:t>
            </a:r>
            <a:endParaRPr/>
          </a:p>
          <a:p>
            <a:pPr marL="0" marR="0" lvl="0" indent="0" algn="r" rtl="0">
              <a:lnSpc>
                <a:spcPct val="100000"/>
              </a:lnSpc>
              <a:spcBef>
                <a:spcPts val="0"/>
              </a:spcBef>
              <a:spcAft>
                <a:spcPts val="0"/>
              </a:spcAft>
              <a:buClr>
                <a:schemeClr val="lt1"/>
              </a:buClr>
              <a:buSzPts val="1800"/>
              <a:buFont typeface="Arial"/>
              <a:buNone/>
            </a:pPr>
            <a:r>
              <a:rPr lang="en-US"/>
              <a:t>2023MT13044</a:t>
            </a:r>
            <a:br>
              <a:rPr lang="en-US"/>
            </a:br>
            <a:r>
              <a:rPr lang="en-US"/>
              <a:t>M.Tech. Software Systems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800"/>
              <a:buFont typeface="Arial"/>
              <a:buNone/>
            </a:pPr>
            <a:r>
              <a:rPr lang="en-US" sz="2700">
                <a:latin typeface="Calibri"/>
                <a:ea typeface="Calibri"/>
                <a:cs typeface="Calibri"/>
                <a:sym typeface="Calibri"/>
              </a:rPr>
              <a:t>Design, Implementation &amp; Analysis of m-TLS Authenticated OMCI Channel in Virtualized PON Architectures</a:t>
            </a:r>
            <a:endParaRPr sz="33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g373714e7194_0_6"/>
          <p:cNvSpPr txBox="1">
            <a:spLocks noGrp="1"/>
          </p:cNvSpPr>
          <p:nvPr>
            <p:ph type="body" idx="1"/>
          </p:nvPr>
        </p:nvSpPr>
        <p:spPr>
          <a:xfrm>
            <a:off x="304800" y="1493837"/>
            <a:ext cx="8229600" cy="4526100"/>
          </a:xfrm>
          <a:prstGeom prst="rect">
            <a:avLst/>
          </a:prstGeom>
        </p:spPr>
        <p:txBody>
          <a:bodyPr spcFirstLastPara="1" wrap="square" lIns="91425" tIns="45700" rIns="91425" bIns="45700" anchor="t" anchorCtr="0">
            <a:noAutofit/>
          </a:bodyPr>
          <a:lstStyle/>
          <a:p>
            <a:pPr lvl="0" indent="-457200" algn="l" rtl="0">
              <a:spcBef>
                <a:spcPts val="480"/>
              </a:spcBef>
              <a:spcAft>
                <a:spcPts val="0"/>
              </a:spcAft>
              <a:buAutoNum type="arabicPeriod"/>
            </a:pPr>
            <a:r>
              <a:rPr lang="en-US" dirty="0"/>
              <a:t>The TR-451 standard does not impose highest security standard to protect sensitive network information when transmitted across the </a:t>
            </a:r>
            <a:r>
              <a:rPr lang="en-US" dirty="0" err="1"/>
              <a:t>vOMCI</a:t>
            </a:r>
            <a:r>
              <a:rPr lang="en-US" dirty="0"/>
              <a:t> architecture</a:t>
            </a:r>
          </a:p>
          <a:p>
            <a:pPr lvl="0" indent="-457200" algn="l" rtl="0">
              <a:spcBef>
                <a:spcPts val="480"/>
              </a:spcBef>
              <a:spcAft>
                <a:spcPts val="0"/>
              </a:spcAft>
              <a:buAutoNum type="arabicPeriod"/>
            </a:pPr>
            <a:r>
              <a:rPr lang="en-US" dirty="0"/>
              <a:t>In a cloud based solution, like </a:t>
            </a:r>
            <a:r>
              <a:rPr lang="en-US" dirty="0" err="1"/>
              <a:t>vOMCI</a:t>
            </a:r>
            <a:r>
              <a:rPr lang="en-US" dirty="0"/>
              <a:t> architecture, the modules do not authenticate each other which can allow an attacker to deploy a malicious cloned </a:t>
            </a:r>
            <a:r>
              <a:rPr lang="en-US" dirty="0" err="1"/>
              <a:t>vOMCI</a:t>
            </a:r>
            <a:r>
              <a:rPr lang="en-US" dirty="0"/>
              <a:t> module.</a:t>
            </a:r>
          </a:p>
          <a:p>
            <a:pPr lvl="0" indent="-457200" algn="l" rtl="0">
              <a:spcBef>
                <a:spcPts val="480"/>
              </a:spcBef>
              <a:spcAft>
                <a:spcPts val="0"/>
              </a:spcAft>
              <a:buAutoNum type="arabicPeriod"/>
            </a:pPr>
            <a:r>
              <a:rPr lang="en-US" dirty="0"/>
              <a:t>There is no proper mechanism specified to refresh the security certificates which are issued as public keys which opens up the </a:t>
            </a:r>
            <a:r>
              <a:rPr lang="en-US" dirty="0" err="1"/>
              <a:t>vOMCI</a:t>
            </a:r>
            <a:r>
              <a:rPr lang="en-US" dirty="0"/>
              <a:t> architecture for MITM vulnerability attacks</a:t>
            </a:r>
            <a:endParaRPr dirty="0"/>
          </a:p>
        </p:txBody>
      </p:sp>
      <p:sp>
        <p:nvSpPr>
          <p:cNvPr id="72" name="Google Shape;72;g373714e7194_0_6"/>
          <p:cNvSpPr txBox="1">
            <a:spLocks noGrp="1"/>
          </p:cNvSpPr>
          <p:nvPr>
            <p:ph type="body" idx="2"/>
          </p:nvPr>
        </p:nvSpPr>
        <p:spPr>
          <a:xfrm>
            <a:off x="304800" y="152400"/>
            <a:ext cx="63246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Problem Statement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6" name="Google Shape;86;g373714e7194_0_12"/>
          <p:cNvSpPr txBox="1">
            <a:spLocks noGrp="1"/>
          </p:cNvSpPr>
          <p:nvPr>
            <p:ph type="body" idx="2"/>
          </p:nvPr>
        </p:nvSpPr>
        <p:spPr>
          <a:xfrm>
            <a:off x="304800" y="152400"/>
            <a:ext cx="63246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err="1"/>
              <a:t>vOMCI</a:t>
            </a:r>
            <a:r>
              <a:rPr lang="en-US" dirty="0"/>
              <a:t> Architecture</a:t>
            </a:r>
            <a:endParaRPr dirty="0"/>
          </a:p>
        </p:txBody>
      </p:sp>
      <p:sp>
        <p:nvSpPr>
          <p:cNvPr id="2" name="Rectangle 1">
            <a:extLst>
              <a:ext uri="{FF2B5EF4-FFF2-40B4-BE49-F238E27FC236}">
                <a16:creationId xmlns:a16="http://schemas.microsoft.com/office/drawing/2014/main" id="{C68D3C9F-EC23-58E5-267F-D958A4BC9F69}"/>
              </a:ext>
            </a:extLst>
          </p:cNvPr>
          <p:cNvSpPr/>
          <p:nvPr/>
        </p:nvSpPr>
        <p:spPr>
          <a:xfrm>
            <a:off x="3391786" y="1520456"/>
            <a:ext cx="1711842" cy="808074"/>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ONU Management Proxy</a:t>
            </a:r>
          </a:p>
        </p:txBody>
      </p:sp>
      <p:sp>
        <p:nvSpPr>
          <p:cNvPr id="3" name="Rectangle 2">
            <a:extLst>
              <a:ext uri="{FF2B5EF4-FFF2-40B4-BE49-F238E27FC236}">
                <a16:creationId xmlns:a16="http://schemas.microsoft.com/office/drawing/2014/main" id="{D86075D7-ED07-A445-C56C-CE7DB8DE930D}"/>
              </a:ext>
            </a:extLst>
          </p:cNvPr>
          <p:cNvSpPr/>
          <p:nvPr/>
        </p:nvSpPr>
        <p:spPr>
          <a:xfrm>
            <a:off x="3391786" y="3065470"/>
            <a:ext cx="1711842" cy="80807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t>vOMCI</a:t>
            </a:r>
            <a:r>
              <a:rPr lang="en-US" b="1" dirty="0"/>
              <a:t> Function</a:t>
            </a:r>
          </a:p>
        </p:txBody>
      </p:sp>
      <p:sp>
        <p:nvSpPr>
          <p:cNvPr id="4" name="Rectangle 3">
            <a:extLst>
              <a:ext uri="{FF2B5EF4-FFF2-40B4-BE49-F238E27FC236}">
                <a16:creationId xmlns:a16="http://schemas.microsoft.com/office/drawing/2014/main" id="{93768630-9500-15B9-3C1B-3B4121EFC80C}"/>
              </a:ext>
            </a:extLst>
          </p:cNvPr>
          <p:cNvSpPr/>
          <p:nvPr/>
        </p:nvSpPr>
        <p:spPr>
          <a:xfrm>
            <a:off x="3391786" y="4540103"/>
            <a:ext cx="1711842" cy="80807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t>vOMCI</a:t>
            </a:r>
            <a:r>
              <a:rPr lang="en-US" b="1" dirty="0"/>
              <a:t> Proxy</a:t>
            </a:r>
          </a:p>
        </p:txBody>
      </p:sp>
      <p:pic>
        <p:nvPicPr>
          <p:cNvPr id="6" name="Picture 5">
            <a:extLst>
              <a:ext uri="{FF2B5EF4-FFF2-40B4-BE49-F238E27FC236}">
                <a16:creationId xmlns:a16="http://schemas.microsoft.com/office/drawing/2014/main" id="{84A80F3F-53B6-0657-5153-4AD02E482AE9}"/>
              </a:ext>
            </a:extLst>
          </p:cNvPr>
          <p:cNvPicPr>
            <a:picLocks noChangeAspect="1"/>
          </p:cNvPicPr>
          <p:nvPr/>
        </p:nvPicPr>
        <p:blipFill>
          <a:blip r:embed="rId3"/>
          <a:stretch>
            <a:fillRect/>
          </a:stretch>
        </p:blipFill>
        <p:spPr>
          <a:xfrm>
            <a:off x="6191139" y="2682503"/>
            <a:ext cx="1591894" cy="1577553"/>
          </a:xfrm>
          <a:prstGeom prst="rect">
            <a:avLst/>
          </a:prstGeom>
          <a:solidFill>
            <a:schemeClr val="accent1"/>
          </a:solidFill>
        </p:spPr>
      </p:pic>
      <p:sp>
        <p:nvSpPr>
          <p:cNvPr id="7" name="Rectangle 6">
            <a:extLst>
              <a:ext uri="{FF2B5EF4-FFF2-40B4-BE49-F238E27FC236}">
                <a16:creationId xmlns:a16="http://schemas.microsoft.com/office/drawing/2014/main" id="{ADB98EAD-7DE6-F380-6838-1BDEAA4A68A6}"/>
              </a:ext>
            </a:extLst>
          </p:cNvPr>
          <p:cNvSpPr/>
          <p:nvPr/>
        </p:nvSpPr>
        <p:spPr>
          <a:xfrm>
            <a:off x="592433" y="3067243"/>
            <a:ext cx="1711842" cy="80807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t>vOLT</a:t>
            </a:r>
            <a:r>
              <a:rPr lang="en-US" b="1" dirty="0"/>
              <a:t> Management Function</a:t>
            </a:r>
          </a:p>
        </p:txBody>
      </p:sp>
      <p:cxnSp>
        <p:nvCxnSpPr>
          <p:cNvPr id="9" name="Straight Arrow Connector 8">
            <a:extLst>
              <a:ext uri="{FF2B5EF4-FFF2-40B4-BE49-F238E27FC236}">
                <a16:creationId xmlns:a16="http://schemas.microsoft.com/office/drawing/2014/main" id="{F1C691D1-58F4-C757-24C5-5E8897B2AF1F}"/>
              </a:ext>
            </a:extLst>
          </p:cNvPr>
          <p:cNvCxnSpPr>
            <a:cxnSpLocks/>
            <a:stCxn id="7" idx="3"/>
            <a:endCxn id="3" idx="1"/>
          </p:cNvCxnSpPr>
          <p:nvPr/>
        </p:nvCxnSpPr>
        <p:spPr>
          <a:xfrm flipV="1">
            <a:off x="2304275" y="3469507"/>
            <a:ext cx="1087511" cy="1773"/>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6E5EB28-C6FC-AA01-3E35-306B1CCB6978}"/>
              </a:ext>
            </a:extLst>
          </p:cNvPr>
          <p:cNvCxnSpPr>
            <a:stCxn id="3" idx="2"/>
            <a:endCxn id="4" idx="0"/>
          </p:cNvCxnSpPr>
          <p:nvPr/>
        </p:nvCxnSpPr>
        <p:spPr>
          <a:xfrm>
            <a:off x="4247707" y="3873544"/>
            <a:ext cx="0" cy="666559"/>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47FF4B7-AB92-D7C1-4C21-5BC6BCB2685F}"/>
              </a:ext>
            </a:extLst>
          </p:cNvPr>
          <p:cNvCxnSpPr>
            <a:stCxn id="7" idx="2"/>
            <a:endCxn id="4" idx="1"/>
          </p:cNvCxnSpPr>
          <p:nvPr/>
        </p:nvCxnSpPr>
        <p:spPr>
          <a:xfrm>
            <a:off x="1448354" y="3875317"/>
            <a:ext cx="1943432" cy="1068823"/>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F557CEA-565A-4F28-DED6-314E899E5E87}"/>
              </a:ext>
            </a:extLst>
          </p:cNvPr>
          <p:cNvCxnSpPr>
            <a:stCxn id="7" idx="0"/>
            <a:endCxn id="2" idx="1"/>
          </p:cNvCxnSpPr>
          <p:nvPr/>
        </p:nvCxnSpPr>
        <p:spPr>
          <a:xfrm flipV="1">
            <a:off x="1448354" y="1924493"/>
            <a:ext cx="1943432" cy="1142750"/>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A456BE6-34D4-CC21-F493-884F52F35DEC}"/>
              </a:ext>
            </a:extLst>
          </p:cNvPr>
          <p:cNvCxnSpPr>
            <a:stCxn id="2" idx="2"/>
            <a:endCxn id="3" idx="0"/>
          </p:cNvCxnSpPr>
          <p:nvPr/>
        </p:nvCxnSpPr>
        <p:spPr>
          <a:xfrm>
            <a:off x="4247707" y="2328530"/>
            <a:ext cx="0" cy="736940"/>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007587B-8697-BCCC-212D-B727FF2A336C}"/>
              </a:ext>
            </a:extLst>
          </p:cNvPr>
          <p:cNvCxnSpPr>
            <a:stCxn id="3" idx="3"/>
            <a:endCxn id="6" idx="1"/>
          </p:cNvCxnSpPr>
          <p:nvPr/>
        </p:nvCxnSpPr>
        <p:spPr>
          <a:xfrm>
            <a:off x="5103628" y="3469507"/>
            <a:ext cx="1087511" cy="1773"/>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850E553-5A8F-7350-7E75-9F1F52747FFC}"/>
              </a:ext>
            </a:extLst>
          </p:cNvPr>
          <p:cNvCxnSpPr>
            <a:stCxn id="4" idx="3"/>
            <a:endCxn id="6" idx="2"/>
          </p:cNvCxnSpPr>
          <p:nvPr/>
        </p:nvCxnSpPr>
        <p:spPr>
          <a:xfrm flipV="1">
            <a:off x="5103628" y="4260056"/>
            <a:ext cx="1883458" cy="684084"/>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399C0E3-FCDB-E36A-FCD4-07FD922FD7CD}"/>
              </a:ext>
            </a:extLst>
          </p:cNvPr>
          <p:cNvSpPr txBox="1"/>
          <p:nvPr/>
        </p:nvSpPr>
        <p:spPr>
          <a:xfrm>
            <a:off x="6644194" y="2335359"/>
            <a:ext cx="542136" cy="307777"/>
          </a:xfrm>
          <a:prstGeom prst="rect">
            <a:avLst/>
          </a:prstGeom>
          <a:noFill/>
        </p:spPr>
        <p:txBody>
          <a:bodyPr wrap="none" rtlCol="0">
            <a:spAutoFit/>
          </a:bodyPr>
          <a:lstStyle/>
          <a:p>
            <a:r>
              <a:rPr lang="en-US" b="1" dirty="0"/>
              <a:t>OLT</a:t>
            </a:r>
          </a:p>
        </p:txBody>
      </p:sp>
      <p:sp>
        <p:nvSpPr>
          <p:cNvPr id="26" name="Rectangle 25">
            <a:extLst>
              <a:ext uri="{FF2B5EF4-FFF2-40B4-BE49-F238E27FC236}">
                <a16:creationId xmlns:a16="http://schemas.microsoft.com/office/drawing/2014/main" id="{A324ED10-6E22-A39F-FE60-C900D25CE098}"/>
              </a:ext>
            </a:extLst>
          </p:cNvPr>
          <p:cNvSpPr/>
          <p:nvPr/>
        </p:nvSpPr>
        <p:spPr>
          <a:xfrm>
            <a:off x="6608135" y="4517037"/>
            <a:ext cx="2535865" cy="17668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6F48C7E5-46A8-9CCD-A30D-E3E7814EA8AF}"/>
              </a:ext>
            </a:extLst>
          </p:cNvPr>
          <p:cNvSpPr/>
          <p:nvPr/>
        </p:nvSpPr>
        <p:spPr>
          <a:xfrm>
            <a:off x="6733243" y="4774019"/>
            <a:ext cx="177920" cy="17012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0F8C7EC-559C-F6B1-2B29-9957CEE7BFA3}"/>
              </a:ext>
            </a:extLst>
          </p:cNvPr>
          <p:cNvSpPr/>
          <p:nvPr/>
        </p:nvSpPr>
        <p:spPr>
          <a:xfrm>
            <a:off x="6732533" y="5315379"/>
            <a:ext cx="177920" cy="170121"/>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52B1BC0C-6849-FA62-E871-884365315A1D}"/>
              </a:ext>
            </a:extLst>
          </p:cNvPr>
          <p:cNvCxnSpPr>
            <a:cxnSpLocks/>
          </p:cNvCxnSpPr>
          <p:nvPr/>
        </p:nvCxnSpPr>
        <p:spPr>
          <a:xfrm flipH="1">
            <a:off x="6714062" y="6031054"/>
            <a:ext cx="570879" cy="0"/>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867CAA0-DCD4-F137-E5A7-B55D846D46BB}"/>
              </a:ext>
            </a:extLst>
          </p:cNvPr>
          <p:cNvSpPr txBox="1"/>
          <p:nvPr/>
        </p:nvSpPr>
        <p:spPr>
          <a:xfrm>
            <a:off x="6906300" y="4734825"/>
            <a:ext cx="2169184" cy="246221"/>
          </a:xfrm>
          <a:prstGeom prst="rect">
            <a:avLst/>
          </a:prstGeom>
          <a:noFill/>
        </p:spPr>
        <p:txBody>
          <a:bodyPr wrap="none" rtlCol="0">
            <a:spAutoFit/>
          </a:bodyPr>
          <a:lstStyle/>
          <a:p>
            <a:r>
              <a:rPr lang="en-US" sz="1000" dirty="0"/>
              <a:t>Covered as part of the project work</a:t>
            </a:r>
          </a:p>
        </p:txBody>
      </p:sp>
      <p:sp>
        <p:nvSpPr>
          <p:cNvPr id="32" name="TextBox 31">
            <a:extLst>
              <a:ext uri="{FF2B5EF4-FFF2-40B4-BE49-F238E27FC236}">
                <a16:creationId xmlns:a16="http://schemas.microsoft.com/office/drawing/2014/main" id="{43F362F7-388B-AE6A-318D-9F1E15D01957}"/>
              </a:ext>
            </a:extLst>
          </p:cNvPr>
          <p:cNvSpPr txBox="1"/>
          <p:nvPr/>
        </p:nvSpPr>
        <p:spPr>
          <a:xfrm>
            <a:off x="6841626" y="5269925"/>
            <a:ext cx="2403222" cy="246221"/>
          </a:xfrm>
          <a:prstGeom prst="rect">
            <a:avLst/>
          </a:prstGeom>
          <a:noFill/>
        </p:spPr>
        <p:txBody>
          <a:bodyPr wrap="none" rtlCol="0">
            <a:spAutoFit/>
          </a:bodyPr>
          <a:lstStyle/>
          <a:p>
            <a:r>
              <a:rPr lang="en-US" sz="1000" dirty="0"/>
              <a:t>Not Covered as part of the project work</a:t>
            </a:r>
          </a:p>
        </p:txBody>
      </p:sp>
      <p:sp>
        <p:nvSpPr>
          <p:cNvPr id="33" name="TextBox 32">
            <a:extLst>
              <a:ext uri="{FF2B5EF4-FFF2-40B4-BE49-F238E27FC236}">
                <a16:creationId xmlns:a16="http://schemas.microsoft.com/office/drawing/2014/main" id="{3FF3CFB2-FDB9-71B6-BCC9-13E80CE3B897}"/>
              </a:ext>
            </a:extLst>
          </p:cNvPr>
          <p:cNvSpPr txBox="1"/>
          <p:nvPr/>
        </p:nvSpPr>
        <p:spPr>
          <a:xfrm>
            <a:off x="7284941" y="5907943"/>
            <a:ext cx="1645002" cy="246221"/>
          </a:xfrm>
          <a:prstGeom prst="rect">
            <a:avLst/>
          </a:prstGeom>
          <a:noFill/>
        </p:spPr>
        <p:txBody>
          <a:bodyPr wrap="none" rtlCol="0">
            <a:spAutoFit/>
          </a:bodyPr>
          <a:lstStyle/>
          <a:p>
            <a:r>
              <a:rPr lang="en-US" sz="1000" dirty="0" err="1"/>
              <a:t>gRPC</a:t>
            </a:r>
            <a:r>
              <a:rPr lang="en-US" sz="1000" dirty="0"/>
              <a:t> connection via TLS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g373714e7194_0_0"/>
          <p:cNvSpPr txBox="1">
            <a:spLocks noGrp="1"/>
          </p:cNvSpPr>
          <p:nvPr>
            <p:ph type="body" idx="1"/>
          </p:nvPr>
        </p:nvSpPr>
        <p:spPr>
          <a:xfrm>
            <a:off x="304800" y="1493836"/>
            <a:ext cx="8229600" cy="4949493"/>
          </a:xfrm>
          <a:prstGeom prst="rect">
            <a:avLst/>
          </a:prstGeom>
        </p:spPr>
        <p:txBody>
          <a:bodyPr spcFirstLastPara="1" wrap="square" lIns="0" tIns="91425" rIns="0" bIns="91425" anchor="t" anchorCtr="0">
            <a:noAutofit/>
          </a:bodyPr>
          <a:lstStyle/>
          <a:p>
            <a:pPr marL="0" lvl="0" indent="0" algn="l" rtl="0">
              <a:spcBef>
                <a:spcPts val="480"/>
              </a:spcBef>
              <a:spcAft>
                <a:spcPts val="0"/>
              </a:spcAft>
              <a:buNone/>
            </a:pPr>
            <a:r>
              <a:rPr lang="en-US" sz="1500" b="1" u="sng" dirty="0"/>
              <a:t>Solution 1:</a:t>
            </a:r>
            <a:br>
              <a:rPr lang="en-US" sz="1500" dirty="0"/>
            </a:br>
            <a:r>
              <a:rPr lang="en-US" sz="1500" dirty="0"/>
              <a:t>The TR-451 standard imposes highest security measures as TL1.2. It has been found that TLS1.2 has weak ciphers and vulnerabilities. </a:t>
            </a:r>
          </a:p>
          <a:p>
            <a:pPr marL="0" lvl="0" indent="0" algn="l" rtl="0">
              <a:spcBef>
                <a:spcPts val="480"/>
              </a:spcBef>
              <a:spcAft>
                <a:spcPts val="0"/>
              </a:spcAft>
              <a:buNone/>
            </a:pPr>
            <a:r>
              <a:rPr lang="en-US" sz="1500" dirty="0"/>
              <a:t>The project work proposes to implement TLS1.3 for the </a:t>
            </a:r>
            <a:r>
              <a:rPr lang="en-US" sz="1500" dirty="0" err="1"/>
              <a:t>vOMCI</a:t>
            </a:r>
            <a:r>
              <a:rPr lang="en-US" sz="1500" dirty="0"/>
              <a:t> modules.</a:t>
            </a:r>
          </a:p>
          <a:p>
            <a:pPr marL="0" lvl="0" indent="0" algn="l" rtl="0">
              <a:spcBef>
                <a:spcPts val="480"/>
              </a:spcBef>
              <a:spcAft>
                <a:spcPts val="0"/>
              </a:spcAft>
              <a:buNone/>
            </a:pPr>
            <a:endParaRPr lang="en-US" sz="1500" dirty="0"/>
          </a:p>
          <a:p>
            <a:pPr marL="0" lvl="0" indent="0" algn="l" rtl="0">
              <a:spcBef>
                <a:spcPts val="480"/>
              </a:spcBef>
              <a:spcAft>
                <a:spcPts val="0"/>
              </a:spcAft>
              <a:buNone/>
            </a:pPr>
            <a:r>
              <a:rPr lang="en-US" sz="1500" b="1" u="sng" dirty="0"/>
              <a:t>Solution 2:</a:t>
            </a:r>
          </a:p>
          <a:p>
            <a:pPr marL="0" lvl="0" indent="0" algn="l" rtl="0">
              <a:spcBef>
                <a:spcPts val="480"/>
              </a:spcBef>
              <a:spcAft>
                <a:spcPts val="0"/>
              </a:spcAft>
              <a:buNone/>
            </a:pPr>
            <a:r>
              <a:rPr lang="en-US" sz="1500" dirty="0"/>
              <a:t>As per the </a:t>
            </a:r>
            <a:r>
              <a:rPr lang="en-US" sz="1500" dirty="0" err="1"/>
              <a:t>vOMCI</a:t>
            </a:r>
            <a:r>
              <a:rPr lang="en-US" sz="1500" dirty="0"/>
              <a:t> architecture the connecting client validates the server using X.509 certificate as part of TLS handshake. However, it does not validate the client.</a:t>
            </a:r>
            <a:br>
              <a:rPr lang="en-US" sz="1500" dirty="0"/>
            </a:br>
            <a:r>
              <a:rPr lang="en-US" sz="1500" dirty="0"/>
              <a:t>The project work  proposes to implement mutual TLS which ensures that both the client and server will authenticate each other during TLS handshake thus preserving integrity of the </a:t>
            </a:r>
            <a:r>
              <a:rPr lang="en-US" sz="1500" dirty="0" err="1"/>
              <a:t>vOMCI</a:t>
            </a:r>
            <a:r>
              <a:rPr lang="en-US" sz="1500" dirty="0"/>
              <a:t> modules.</a:t>
            </a:r>
          </a:p>
          <a:p>
            <a:pPr marL="0" lvl="0" indent="0" algn="l" rtl="0">
              <a:spcBef>
                <a:spcPts val="480"/>
              </a:spcBef>
              <a:spcAft>
                <a:spcPts val="0"/>
              </a:spcAft>
              <a:buNone/>
            </a:pPr>
            <a:br>
              <a:rPr lang="en-US" sz="1500" dirty="0"/>
            </a:br>
            <a:r>
              <a:rPr lang="en-US" sz="1500" b="1" u="sng" dirty="0"/>
              <a:t>Solution 3:</a:t>
            </a:r>
            <a:br>
              <a:rPr lang="en-US" sz="1500" dirty="0"/>
            </a:br>
            <a:r>
              <a:rPr lang="en-US" sz="1500" dirty="0"/>
              <a:t>There is no mechanism to refresh the X.509 certificates as per current mechanism in </a:t>
            </a:r>
            <a:r>
              <a:rPr lang="en-US" sz="1500" dirty="0" err="1"/>
              <a:t>vOMCI</a:t>
            </a:r>
            <a:r>
              <a:rPr lang="en-US" sz="1500" dirty="0"/>
              <a:t> architecture.</a:t>
            </a:r>
            <a:br>
              <a:rPr lang="en-US" sz="1500" dirty="0"/>
            </a:br>
            <a:r>
              <a:rPr lang="en-US" sz="1500" dirty="0"/>
              <a:t>The project work will perform certificate rotation automatically by monitoring the health of the certificates and the modules will be altered to establish new connection with new refreshed certificates thus avoiding MITM attacks.</a:t>
            </a:r>
            <a:endParaRPr sz="1500" dirty="0"/>
          </a:p>
        </p:txBody>
      </p:sp>
      <p:sp>
        <p:nvSpPr>
          <p:cNvPr id="79" name="Google Shape;79;g373714e7194_0_0"/>
          <p:cNvSpPr txBox="1">
            <a:spLocks noGrp="1"/>
          </p:cNvSpPr>
          <p:nvPr>
            <p:ph type="body" idx="2"/>
          </p:nvPr>
        </p:nvSpPr>
        <p:spPr>
          <a:xfrm>
            <a:off x="304800" y="152400"/>
            <a:ext cx="63246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Solution View</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84D403FB-5950-A23F-D37B-8D62A53B27B1}"/>
            </a:ext>
          </a:extLst>
        </p:cNvPr>
        <p:cNvGrpSpPr/>
        <p:nvPr/>
      </p:nvGrpSpPr>
      <p:grpSpPr>
        <a:xfrm>
          <a:off x="0" y="0"/>
          <a:ext cx="0" cy="0"/>
          <a:chOff x="0" y="0"/>
          <a:chExt cx="0" cy="0"/>
        </a:xfrm>
      </p:grpSpPr>
      <p:sp>
        <p:nvSpPr>
          <p:cNvPr id="79" name="Google Shape;79;g373714e7194_0_0">
            <a:extLst>
              <a:ext uri="{FF2B5EF4-FFF2-40B4-BE49-F238E27FC236}">
                <a16:creationId xmlns:a16="http://schemas.microsoft.com/office/drawing/2014/main" id="{228B6C96-C825-A0F7-93F0-4C2BC8FA9978}"/>
              </a:ext>
            </a:extLst>
          </p:cNvPr>
          <p:cNvSpPr txBox="1">
            <a:spLocks noGrp="1"/>
          </p:cNvSpPr>
          <p:nvPr>
            <p:ph type="body" idx="2"/>
          </p:nvPr>
        </p:nvSpPr>
        <p:spPr>
          <a:xfrm>
            <a:off x="304800" y="152400"/>
            <a:ext cx="63246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Assumptions</a:t>
            </a:r>
            <a:endParaRPr dirty="0"/>
          </a:p>
        </p:txBody>
      </p:sp>
      <p:sp>
        <p:nvSpPr>
          <p:cNvPr id="8" name="TextBox 7">
            <a:extLst>
              <a:ext uri="{FF2B5EF4-FFF2-40B4-BE49-F238E27FC236}">
                <a16:creationId xmlns:a16="http://schemas.microsoft.com/office/drawing/2014/main" id="{334C7CA9-2E30-2F95-B68D-562E773076A3}"/>
              </a:ext>
            </a:extLst>
          </p:cNvPr>
          <p:cNvSpPr txBox="1"/>
          <p:nvPr/>
        </p:nvSpPr>
        <p:spPr>
          <a:xfrm>
            <a:off x="159488" y="1626781"/>
            <a:ext cx="9175910" cy="2662267"/>
          </a:xfrm>
          <a:prstGeom prst="rect">
            <a:avLst/>
          </a:prstGeom>
          <a:noFill/>
        </p:spPr>
        <p:txBody>
          <a:bodyPr wrap="none" rtlCol="0">
            <a:spAutoFit/>
          </a:bodyPr>
          <a:lstStyle/>
          <a:p>
            <a:r>
              <a:rPr lang="en-US" sz="1700" dirty="0">
                <a:sym typeface="Wingdings" panose="05000000000000000000" pitchFamily="2" charset="2"/>
              </a:rPr>
              <a:t> </a:t>
            </a:r>
            <a:r>
              <a:rPr lang="en-US" sz="1700" dirty="0"/>
              <a:t>The </a:t>
            </a:r>
            <a:r>
              <a:rPr lang="en-US" sz="1700" dirty="0" err="1"/>
              <a:t>vOLTMF</a:t>
            </a:r>
            <a:r>
              <a:rPr lang="en-US" sz="1700" dirty="0"/>
              <a:t> module uses Yang data modelling for pushing config request to </a:t>
            </a:r>
            <a:r>
              <a:rPr lang="en-US" sz="1700" dirty="0" err="1"/>
              <a:t>vOMCI</a:t>
            </a:r>
            <a:r>
              <a:rPr lang="en-US" sz="1700" dirty="0"/>
              <a:t> </a:t>
            </a:r>
          </a:p>
          <a:p>
            <a:r>
              <a:rPr lang="en-US" sz="1700" dirty="0"/>
              <a:t>function which then  translates the data model to OMCI. However, for the current project </a:t>
            </a:r>
          </a:p>
          <a:p>
            <a:r>
              <a:rPr lang="en-US" sz="1700" dirty="0"/>
              <a:t>work, the Yang data modelling is not in scope and so to simulate the Yang data modelling </a:t>
            </a:r>
          </a:p>
          <a:p>
            <a:r>
              <a:rPr lang="en-US" sz="1700" dirty="0"/>
              <a:t>config push, a separate interactive CLI will be designed which will push the necessary config </a:t>
            </a:r>
          </a:p>
          <a:p>
            <a:r>
              <a:rPr lang="en-US" sz="1700" dirty="0"/>
              <a:t>command to demonstrate the transaction.</a:t>
            </a:r>
          </a:p>
          <a:p>
            <a:endParaRPr lang="en-US" sz="1700" dirty="0"/>
          </a:p>
          <a:p>
            <a:r>
              <a:rPr lang="en-US" sz="1700" dirty="0">
                <a:sym typeface="Wingdings" panose="05000000000000000000" pitchFamily="2" charset="2"/>
              </a:rPr>
              <a:t> </a:t>
            </a:r>
            <a:r>
              <a:rPr lang="en-US" sz="1700" dirty="0"/>
              <a:t>The </a:t>
            </a:r>
            <a:r>
              <a:rPr lang="en-US" sz="1700" dirty="0" err="1"/>
              <a:t>vOLTMF</a:t>
            </a:r>
            <a:r>
              <a:rPr lang="en-US" sz="1700" dirty="0"/>
              <a:t>, </a:t>
            </a:r>
            <a:r>
              <a:rPr lang="en-US" sz="1700" dirty="0" err="1"/>
              <a:t>vOMCI</a:t>
            </a:r>
            <a:r>
              <a:rPr lang="en-US" sz="1700" dirty="0"/>
              <a:t> Function, </a:t>
            </a:r>
            <a:r>
              <a:rPr lang="en-US" sz="1700" dirty="0" err="1"/>
              <a:t>vOMCI</a:t>
            </a:r>
            <a:r>
              <a:rPr lang="en-US" sz="1700" dirty="0"/>
              <a:t> Proxy will be only covered in the project work and</a:t>
            </a:r>
          </a:p>
          <a:p>
            <a:r>
              <a:rPr lang="en-US" sz="1700" dirty="0"/>
              <a:t>TLS1.3, </a:t>
            </a:r>
            <a:r>
              <a:rPr lang="en-US" sz="1700" dirty="0" err="1"/>
              <a:t>mTLS</a:t>
            </a:r>
            <a:r>
              <a:rPr lang="en-US" sz="1700" dirty="0"/>
              <a:t> and certificate rotation will be implemented and demonstrated via these </a:t>
            </a:r>
          </a:p>
          <a:p>
            <a:r>
              <a:rPr lang="en-US" sz="1700" dirty="0"/>
              <a:t>modules. It is understood that the solution can be extended to other modules as well.</a:t>
            </a:r>
          </a:p>
          <a:p>
            <a:endParaRPr lang="en-US" dirty="0"/>
          </a:p>
        </p:txBody>
      </p:sp>
    </p:spTree>
    <p:extLst>
      <p:ext uri="{BB962C8B-B14F-4D97-AF65-F5344CB8AC3E}">
        <p14:creationId xmlns:p14="http://schemas.microsoft.com/office/powerpoint/2010/main" val="2981995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87A9D93E-BFF7-DDBD-6F2E-0BAA755A438C}"/>
            </a:ext>
          </a:extLst>
        </p:cNvPr>
        <p:cNvGrpSpPr/>
        <p:nvPr/>
      </p:nvGrpSpPr>
      <p:grpSpPr>
        <a:xfrm>
          <a:off x="0" y="0"/>
          <a:ext cx="0" cy="0"/>
          <a:chOff x="0" y="0"/>
          <a:chExt cx="0" cy="0"/>
        </a:xfrm>
      </p:grpSpPr>
      <p:sp>
        <p:nvSpPr>
          <p:cNvPr id="79" name="Google Shape;79;g373714e7194_0_0">
            <a:extLst>
              <a:ext uri="{FF2B5EF4-FFF2-40B4-BE49-F238E27FC236}">
                <a16:creationId xmlns:a16="http://schemas.microsoft.com/office/drawing/2014/main" id="{361C1AC1-E1CC-B2F3-5DD7-43D9A1CA7417}"/>
              </a:ext>
            </a:extLst>
          </p:cNvPr>
          <p:cNvSpPr txBox="1">
            <a:spLocks noGrp="1"/>
          </p:cNvSpPr>
          <p:nvPr>
            <p:ph type="body" idx="2"/>
          </p:nvPr>
        </p:nvSpPr>
        <p:spPr>
          <a:xfrm>
            <a:off x="304800" y="152400"/>
            <a:ext cx="63246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Objectives &amp; Tools</a:t>
            </a:r>
            <a:endParaRPr dirty="0"/>
          </a:p>
        </p:txBody>
      </p:sp>
      <p:sp>
        <p:nvSpPr>
          <p:cNvPr id="8" name="TextBox 7">
            <a:extLst>
              <a:ext uri="{FF2B5EF4-FFF2-40B4-BE49-F238E27FC236}">
                <a16:creationId xmlns:a16="http://schemas.microsoft.com/office/drawing/2014/main" id="{61A6707F-C932-9CAE-E69A-55A2FE15A981}"/>
              </a:ext>
            </a:extLst>
          </p:cNvPr>
          <p:cNvSpPr txBox="1"/>
          <p:nvPr/>
        </p:nvSpPr>
        <p:spPr>
          <a:xfrm>
            <a:off x="159488" y="1626781"/>
            <a:ext cx="8630889" cy="3231654"/>
          </a:xfrm>
          <a:prstGeom prst="rect">
            <a:avLst/>
          </a:prstGeom>
          <a:noFill/>
        </p:spPr>
        <p:txBody>
          <a:bodyPr wrap="none" rtlCol="0">
            <a:spAutoFit/>
          </a:bodyPr>
          <a:lstStyle/>
          <a:p>
            <a:r>
              <a:rPr lang="en-US" sz="1700" b="1" u="sng" dirty="0"/>
              <a:t>Objective:</a:t>
            </a:r>
            <a:br>
              <a:rPr lang="en-US" sz="1700" dirty="0"/>
            </a:br>
            <a:r>
              <a:rPr lang="en-US" sz="1700" dirty="0"/>
              <a:t>-     Implement a basic framework of </a:t>
            </a:r>
            <a:r>
              <a:rPr lang="en-US" sz="1700" dirty="0" err="1"/>
              <a:t>vOLTMF</a:t>
            </a:r>
            <a:r>
              <a:rPr lang="en-US" sz="1700" dirty="0"/>
              <a:t>, </a:t>
            </a:r>
            <a:r>
              <a:rPr lang="en-US" sz="1700" dirty="0" err="1"/>
              <a:t>vOMCI</a:t>
            </a:r>
            <a:r>
              <a:rPr lang="en-US" sz="1700" dirty="0"/>
              <a:t> Function , </a:t>
            </a:r>
            <a:r>
              <a:rPr lang="en-US" sz="1700" dirty="0" err="1"/>
              <a:t>vOMCI</a:t>
            </a:r>
            <a:r>
              <a:rPr lang="en-US" sz="1700" dirty="0"/>
              <a:t> Proxy modules</a:t>
            </a:r>
          </a:p>
          <a:p>
            <a:pPr marL="285750" indent="-285750">
              <a:buFontTx/>
              <a:buChar char="-"/>
            </a:pPr>
            <a:r>
              <a:rPr lang="en-US" sz="1700" dirty="0"/>
              <a:t>Implement </a:t>
            </a:r>
            <a:r>
              <a:rPr lang="en-US" sz="1700" dirty="0" err="1"/>
              <a:t>gRPC</a:t>
            </a:r>
            <a:r>
              <a:rPr lang="en-US" sz="1700" dirty="0"/>
              <a:t> connection among the modules</a:t>
            </a:r>
          </a:p>
          <a:p>
            <a:pPr marL="285750" indent="-285750">
              <a:buFontTx/>
              <a:buChar char="-"/>
            </a:pPr>
            <a:r>
              <a:rPr lang="en-US" sz="1700" dirty="0"/>
              <a:t>Implement TLS1.3 on the </a:t>
            </a:r>
            <a:r>
              <a:rPr lang="en-US" sz="1700" dirty="0" err="1"/>
              <a:t>gRPC</a:t>
            </a:r>
            <a:r>
              <a:rPr lang="en-US" sz="1700" dirty="0"/>
              <a:t> </a:t>
            </a:r>
          </a:p>
          <a:p>
            <a:pPr marL="285750" indent="-285750">
              <a:buFontTx/>
              <a:buChar char="-"/>
            </a:pPr>
            <a:r>
              <a:rPr lang="en-US" sz="1700" dirty="0"/>
              <a:t>Implement mutual TLS on all modules</a:t>
            </a:r>
          </a:p>
          <a:p>
            <a:pPr marL="285750" indent="-285750">
              <a:buFontTx/>
              <a:buChar char="-"/>
            </a:pPr>
            <a:r>
              <a:rPr lang="en-US" sz="1700" dirty="0"/>
              <a:t>Implement certificate monitoring on all modules to react to certificate change</a:t>
            </a:r>
          </a:p>
          <a:p>
            <a:pPr marL="285750" indent="-285750">
              <a:buFontTx/>
              <a:buChar char="-"/>
            </a:pPr>
            <a:r>
              <a:rPr lang="en-US" sz="1700" dirty="0"/>
              <a:t>Implement a script to change the certificate automatically</a:t>
            </a:r>
          </a:p>
          <a:p>
            <a:pPr marL="285750" indent="-285750">
              <a:buFontTx/>
              <a:buChar char="-"/>
            </a:pPr>
            <a:endParaRPr lang="en-US" sz="1700" dirty="0"/>
          </a:p>
          <a:p>
            <a:endParaRPr lang="en-US" sz="1700" dirty="0"/>
          </a:p>
          <a:p>
            <a:r>
              <a:rPr lang="en-US" sz="1700" b="1" u="sng" dirty="0"/>
              <a:t>Tools:</a:t>
            </a:r>
          </a:p>
          <a:p>
            <a:pPr marL="285750" indent="-285750">
              <a:buFontTx/>
              <a:buChar char="-"/>
            </a:pPr>
            <a:r>
              <a:rPr lang="en-US" sz="1700" dirty="0"/>
              <a:t>Go programming language will be used</a:t>
            </a:r>
          </a:p>
          <a:p>
            <a:pPr marL="285750" indent="-285750">
              <a:buFontTx/>
              <a:buChar char="-"/>
            </a:pPr>
            <a:r>
              <a:rPr lang="en-US" sz="1700" dirty="0" err="1"/>
              <a:t>Tcpdump</a:t>
            </a:r>
            <a:r>
              <a:rPr lang="en-US" sz="1700" dirty="0"/>
              <a:t> &amp; Wireshark will be used to check TLS transaction</a:t>
            </a:r>
          </a:p>
        </p:txBody>
      </p:sp>
    </p:spTree>
    <p:extLst>
      <p:ext uri="{BB962C8B-B14F-4D97-AF65-F5344CB8AC3E}">
        <p14:creationId xmlns:p14="http://schemas.microsoft.com/office/powerpoint/2010/main" val="727245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F4EEADD8-6D83-292C-A00A-96987D549C7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88A19EE-9363-BFDB-74FC-D0A461E2450F}"/>
              </a:ext>
            </a:extLst>
          </p:cNvPr>
          <p:cNvSpPr>
            <a:spLocks noGrp="1"/>
          </p:cNvSpPr>
          <p:nvPr>
            <p:ph type="body" idx="2"/>
          </p:nvPr>
        </p:nvSpPr>
        <p:spPr/>
        <p:txBody>
          <a:bodyPr/>
          <a:lstStyle/>
          <a:p>
            <a:r>
              <a:rPr lang="en-US" dirty="0"/>
              <a:t>Outline Architecture</a:t>
            </a:r>
          </a:p>
        </p:txBody>
      </p:sp>
      <p:sp>
        <p:nvSpPr>
          <p:cNvPr id="4" name="Rectangle: Rounded Corners 3">
            <a:extLst>
              <a:ext uri="{FF2B5EF4-FFF2-40B4-BE49-F238E27FC236}">
                <a16:creationId xmlns:a16="http://schemas.microsoft.com/office/drawing/2014/main" id="{F155CE4D-0C48-9D3D-6795-1CF40BFD4FDA}"/>
              </a:ext>
            </a:extLst>
          </p:cNvPr>
          <p:cNvSpPr/>
          <p:nvPr/>
        </p:nvSpPr>
        <p:spPr>
          <a:xfrm>
            <a:off x="1681843" y="1915886"/>
            <a:ext cx="1687286" cy="97971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CLI Interface</a:t>
            </a:r>
          </a:p>
        </p:txBody>
      </p:sp>
      <p:cxnSp>
        <p:nvCxnSpPr>
          <p:cNvPr id="6" name="Straight Arrow Connector 5">
            <a:extLst>
              <a:ext uri="{FF2B5EF4-FFF2-40B4-BE49-F238E27FC236}">
                <a16:creationId xmlns:a16="http://schemas.microsoft.com/office/drawing/2014/main" id="{C1F62B5E-C937-6978-ECFD-2F7C39826F6A}"/>
              </a:ext>
            </a:extLst>
          </p:cNvPr>
          <p:cNvCxnSpPr/>
          <p:nvPr/>
        </p:nvCxnSpPr>
        <p:spPr>
          <a:xfrm>
            <a:off x="408214" y="2405743"/>
            <a:ext cx="12736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EDF4B248-8AFF-F925-4DBA-09F92A218F3E}"/>
              </a:ext>
            </a:extLst>
          </p:cNvPr>
          <p:cNvSpPr/>
          <p:nvPr/>
        </p:nvSpPr>
        <p:spPr>
          <a:xfrm>
            <a:off x="4337958" y="1915886"/>
            <a:ext cx="1687286" cy="97971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err="1"/>
              <a:t>vOLTMF</a:t>
            </a:r>
            <a:endParaRPr lang="en-US" b="1" dirty="0"/>
          </a:p>
        </p:txBody>
      </p:sp>
      <p:sp>
        <p:nvSpPr>
          <p:cNvPr id="9" name="Rectangle: Rounded Corners 8">
            <a:extLst>
              <a:ext uri="{FF2B5EF4-FFF2-40B4-BE49-F238E27FC236}">
                <a16:creationId xmlns:a16="http://schemas.microsoft.com/office/drawing/2014/main" id="{C25E2E42-D04F-3891-96B8-8987FCF9BBE0}"/>
              </a:ext>
            </a:extLst>
          </p:cNvPr>
          <p:cNvSpPr/>
          <p:nvPr/>
        </p:nvSpPr>
        <p:spPr>
          <a:xfrm>
            <a:off x="4386944" y="3429000"/>
            <a:ext cx="1687286" cy="97971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err="1"/>
              <a:t>vOMCI</a:t>
            </a:r>
            <a:r>
              <a:rPr lang="en-US" b="1" dirty="0"/>
              <a:t> Function</a:t>
            </a:r>
          </a:p>
        </p:txBody>
      </p:sp>
      <p:sp>
        <p:nvSpPr>
          <p:cNvPr id="10" name="Rectangle: Rounded Corners 9">
            <a:extLst>
              <a:ext uri="{FF2B5EF4-FFF2-40B4-BE49-F238E27FC236}">
                <a16:creationId xmlns:a16="http://schemas.microsoft.com/office/drawing/2014/main" id="{C2D51641-4D9B-1B32-61B8-A7CEBE639732}"/>
              </a:ext>
            </a:extLst>
          </p:cNvPr>
          <p:cNvSpPr/>
          <p:nvPr/>
        </p:nvSpPr>
        <p:spPr>
          <a:xfrm>
            <a:off x="4386944" y="5029200"/>
            <a:ext cx="1687286" cy="97971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err="1"/>
              <a:t>vOMCI</a:t>
            </a:r>
            <a:r>
              <a:rPr lang="en-US" b="1" dirty="0"/>
              <a:t> Proxy</a:t>
            </a:r>
          </a:p>
        </p:txBody>
      </p:sp>
      <p:cxnSp>
        <p:nvCxnSpPr>
          <p:cNvPr id="12" name="Straight Arrow Connector 11">
            <a:extLst>
              <a:ext uri="{FF2B5EF4-FFF2-40B4-BE49-F238E27FC236}">
                <a16:creationId xmlns:a16="http://schemas.microsoft.com/office/drawing/2014/main" id="{CE8BED64-315A-F888-4DD7-3B13B5D08002}"/>
              </a:ext>
            </a:extLst>
          </p:cNvPr>
          <p:cNvCxnSpPr>
            <a:stCxn id="4" idx="3"/>
            <a:endCxn id="7" idx="1"/>
          </p:cNvCxnSpPr>
          <p:nvPr/>
        </p:nvCxnSpPr>
        <p:spPr>
          <a:xfrm>
            <a:off x="3369129" y="2405743"/>
            <a:ext cx="9688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18F3842-939F-3D91-A220-414593AB7F73}"/>
              </a:ext>
            </a:extLst>
          </p:cNvPr>
          <p:cNvCxnSpPr/>
          <p:nvPr/>
        </p:nvCxnSpPr>
        <p:spPr>
          <a:xfrm>
            <a:off x="4724400" y="2895600"/>
            <a:ext cx="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0377AC1-5A64-A330-4184-535BC0EDDBE3}"/>
              </a:ext>
            </a:extLst>
          </p:cNvPr>
          <p:cNvCxnSpPr>
            <a:cxnSpLocks/>
          </p:cNvCxnSpPr>
          <p:nvPr/>
        </p:nvCxnSpPr>
        <p:spPr>
          <a:xfrm flipV="1">
            <a:off x="5573486" y="2895600"/>
            <a:ext cx="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A209281-E402-A0F6-B2AA-D3F0EC2E1FE3}"/>
              </a:ext>
            </a:extLst>
          </p:cNvPr>
          <p:cNvCxnSpPr/>
          <p:nvPr/>
        </p:nvCxnSpPr>
        <p:spPr>
          <a:xfrm>
            <a:off x="4724400" y="4408714"/>
            <a:ext cx="0" cy="620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AC51F4B-0A45-B72E-DFFC-94E17B08D9C0}"/>
              </a:ext>
            </a:extLst>
          </p:cNvPr>
          <p:cNvCxnSpPr/>
          <p:nvPr/>
        </p:nvCxnSpPr>
        <p:spPr>
          <a:xfrm flipV="1">
            <a:off x="5660571" y="4408714"/>
            <a:ext cx="0" cy="620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39D24EE-281D-8D9F-FAA4-42031B6F4D09}"/>
              </a:ext>
            </a:extLst>
          </p:cNvPr>
          <p:cNvSpPr/>
          <p:nvPr/>
        </p:nvSpPr>
        <p:spPr>
          <a:xfrm>
            <a:off x="4147459" y="2215238"/>
            <a:ext cx="380998" cy="381009"/>
          </a:xfrm>
          <a:prstGeom prst="ellipse">
            <a:avLst/>
          </a:prstGeom>
          <a:solidFill>
            <a:schemeClr val="lt1">
              <a:alpha val="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3" name="Oval 22">
            <a:extLst>
              <a:ext uri="{FF2B5EF4-FFF2-40B4-BE49-F238E27FC236}">
                <a16:creationId xmlns:a16="http://schemas.microsoft.com/office/drawing/2014/main" id="{CDCEE7CF-40A5-A348-2F5E-F10C2B5BEA4B}"/>
              </a:ext>
            </a:extLst>
          </p:cNvPr>
          <p:cNvSpPr/>
          <p:nvPr/>
        </p:nvSpPr>
        <p:spPr>
          <a:xfrm>
            <a:off x="664030" y="5219704"/>
            <a:ext cx="380998" cy="381009"/>
          </a:xfrm>
          <a:prstGeom prst="ellipse">
            <a:avLst/>
          </a:prstGeom>
          <a:solidFill>
            <a:schemeClr val="lt1">
              <a:alpha val="0"/>
            </a:schemeClr>
          </a:solidFill>
          <a:ln>
            <a:solidFill>
              <a:srgbClr val="92D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4" name="Oval 23">
            <a:extLst>
              <a:ext uri="{FF2B5EF4-FFF2-40B4-BE49-F238E27FC236}">
                <a16:creationId xmlns:a16="http://schemas.microsoft.com/office/drawing/2014/main" id="{7E6573B8-2BC6-3054-60F8-6BBBAC80D64E}"/>
              </a:ext>
            </a:extLst>
          </p:cNvPr>
          <p:cNvSpPr/>
          <p:nvPr/>
        </p:nvSpPr>
        <p:spPr>
          <a:xfrm>
            <a:off x="4561112" y="4838695"/>
            <a:ext cx="380998" cy="381009"/>
          </a:xfrm>
          <a:prstGeom prst="ellipse">
            <a:avLst/>
          </a:prstGeom>
          <a:solidFill>
            <a:schemeClr val="lt1">
              <a:alpha val="0"/>
            </a:schemeClr>
          </a:solidFill>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9" name="Oval 28">
            <a:extLst>
              <a:ext uri="{FF2B5EF4-FFF2-40B4-BE49-F238E27FC236}">
                <a16:creationId xmlns:a16="http://schemas.microsoft.com/office/drawing/2014/main" id="{BE8A3EE5-EB72-81BD-3C32-34CD77696C25}"/>
              </a:ext>
            </a:extLst>
          </p:cNvPr>
          <p:cNvSpPr/>
          <p:nvPr/>
        </p:nvSpPr>
        <p:spPr>
          <a:xfrm>
            <a:off x="664030" y="4648190"/>
            <a:ext cx="380998" cy="381009"/>
          </a:xfrm>
          <a:prstGeom prst="ellipse">
            <a:avLst/>
          </a:prstGeom>
          <a:solidFill>
            <a:schemeClr val="lt1">
              <a:alpha val="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30" name="Oval 29">
            <a:extLst>
              <a:ext uri="{FF2B5EF4-FFF2-40B4-BE49-F238E27FC236}">
                <a16:creationId xmlns:a16="http://schemas.microsoft.com/office/drawing/2014/main" id="{D6E60518-6F65-E253-A7AB-B3BA81A7C7F4}"/>
              </a:ext>
            </a:extLst>
          </p:cNvPr>
          <p:cNvSpPr/>
          <p:nvPr/>
        </p:nvSpPr>
        <p:spPr>
          <a:xfrm>
            <a:off x="4561110" y="3262981"/>
            <a:ext cx="380998" cy="381009"/>
          </a:xfrm>
          <a:prstGeom prst="ellipse">
            <a:avLst/>
          </a:prstGeom>
          <a:solidFill>
            <a:schemeClr val="lt1">
              <a:alpha val="0"/>
            </a:schemeClr>
          </a:solidFill>
          <a:ln>
            <a:solidFill>
              <a:srgbClr val="92D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31" name="Oval 30">
            <a:extLst>
              <a:ext uri="{FF2B5EF4-FFF2-40B4-BE49-F238E27FC236}">
                <a16:creationId xmlns:a16="http://schemas.microsoft.com/office/drawing/2014/main" id="{2E7C2D6D-1230-897B-29CE-D3E72EDA2789}"/>
              </a:ext>
            </a:extLst>
          </p:cNvPr>
          <p:cNvSpPr/>
          <p:nvPr/>
        </p:nvSpPr>
        <p:spPr>
          <a:xfrm>
            <a:off x="664030" y="5791218"/>
            <a:ext cx="380998" cy="381009"/>
          </a:xfrm>
          <a:prstGeom prst="ellipse">
            <a:avLst/>
          </a:prstGeom>
          <a:solidFill>
            <a:schemeClr val="lt1">
              <a:alpha val="0"/>
            </a:schemeClr>
          </a:solidFill>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32" name="TextBox 31">
            <a:extLst>
              <a:ext uri="{FF2B5EF4-FFF2-40B4-BE49-F238E27FC236}">
                <a16:creationId xmlns:a16="http://schemas.microsoft.com/office/drawing/2014/main" id="{79987F10-B9D7-BD42-DED8-13ADD91DB23E}"/>
              </a:ext>
            </a:extLst>
          </p:cNvPr>
          <p:cNvSpPr txBox="1"/>
          <p:nvPr/>
        </p:nvSpPr>
        <p:spPr>
          <a:xfrm>
            <a:off x="1109189" y="4452257"/>
            <a:ext cx="2743059" cy="600164"/>
          </a:xfrm>
          <a:prstGeom prst="rect">
            <a:avLst/>
          </a:prstGeom>
          <a:noFill/>
        </p:spPr>
        <p:txBody>
          <a:bodyPr wrap="none" rtlCol="0">
            <a:spAutoFit/>
          </a:bodyPr>
          <a:lstStyle/>
          <a:p>
            <a:r>
              <a:rPr lang="en-US" sz="1100" b="1" dirty="0" err="1"/>
              <a:t>vOLTMF</a:t>
            </a:r>
            <a:r>
              <a:rPr lang="en-US" sz="1100" b="1" dirty="0"/>
              <a:t> Server interface bound to</a:t>
            </a:r>
          </a:p>
          <a:p>
            <a:r>
              <a:rPr lang="en-US" sz="1100" b="1" dirty="0"/>
              <a:t>Port 8080 waiting to receive command</a:t>
            </a:r>
          </a:p>
          <a:p>
            <a:r>
              <a:rPr lang="en-US" sz="1100" b="1" dirty="0"/>
              <a:t>From CLI</a:t>
            </a:r>
          </a:p>
        </p:txBody>
      </p:sp>
      <p:sp>
        <p:nvSpPr>
          <p:cNvPr id="33" name="TextBox 32">
            <a:extLst>
              <a:ext uri="{FF2B5EF4-FFF2-40B4-BE49-F238E27FC236}">
                <a16:creationId xmlns:a16="http://schemas.microsoft.com/office/drawing/2014/main" id="{03EA3369-15B9-968F-9D8D-3E5671054BA2}"/>
              </a:ext>
            </a:extLst>
          </p:cNvPr>
          <p:cNvSpPr txBox="1"/>
          <p:nvPr/>
        </p:nvSpPr>
        <p:spPr>
          <a:xfrm>
            <a:off x="1045028" y="5110126"/>
            <a:ext cx="3281668" cy="600164"/>
          </a:xfrm>
          <a:prstGeom prst="rect">
            <a:avLst/>
          </a:prstGeom>
          <a:noFill/>
        </p:spPr>
        <p:txBody>
          <a:bodyPr wrap="none" rtlCol="0">
            <a:spAutoFit/>
          </a:bodyPr>
          <a:lstStyle/>
          <a:p>
            <a:r>
              <a:rPr lang="en-US" sz="1100" b="1" dirty="0" err="1"/>
              <a:t>vOMCI</a:t>
            </a:r>
            <a:r>
              <a:rPr lang="en-US" sz="1100" b="1" dirty="0"/>
              <a:t> Function Server Interface bound to </a:t>
            </a:r>
          </a:p>
          <a:p>
            <a:r>
              <a:rPr lang="en-US" sz="1100" b="1" dirty="0"/>
              <a:t>Port 50051 waiting to receive </a:t>
            </a:r>
            <a:r>
              <a:rPr lang="en-US" sz="1100" b="1" dirty="0" err="1"/>
              <a:t>gRPC</a:t>
            </a:r>
            <a:r>
              <a:rPr lang="en-US" sz="1100" b="1" dirty="0"/>
              <a:t> calls from </a:t>
            </a:r>
          </a:p>
          <a:p>
            <a:r>
              <a:rPr lang="en-US" sz="1100" b="1" dirty="0" err="1"/>
              <a:t>vOLTMF</a:t>
            </a:r>
            <a:endParaRPr lang="en-US" sz="1100" b="1" dirty="0"/>
          </a:p>
        </p:txBody>
      </p:sp>
      <p:sp>
        <p:nvSpPr>
          <p:cNvPr id="34" name="TextBox 33">
            <a:extLst>
              <a:ext uri="{FF2B5EF4-FFF2-40B4-BE49-F238E27FC236}">
                <a16:creationId xmlns:a16="http://schemas.microsoft.com/office/drawing/2014/main" id="{1FAF14E1-827C-C02F-0FD1-2B38ED6E3AC7}"/>
              </a:ext>
            </a:extLst>
          </p:cNvPr>
          <p:cNvSpPr txBox="1"/>
          <p:nvPr/>
        </p:nvSpPr>
        <p:spPr>
          <a:xfrm>
            <a:off x="1045028" y="5710290"/>
            <a:ext cx="3148619" cy="600164"/>
          </a:xfrm>
          <a:prstGeom prst="rect">
            <a:avLst/>
          </a:prstGeom>
          <a:noFill/>
        </p:spPr>
        <p:txBody>
          <a:bodyPr wrap="none" rtlCol="0">
            <a:spAutoFit/>
          </a:bodyPr>
          <a:lstStyle/>
          <a:p>
            <a:r>
              <a:rPr lang="en-US" sz="1100" b="1" dirty="0" err="1"/>
              <a:t>vOMCI</a:t>
            </a:r>
            <a:r>
              <a:rPr lang="en-US" sz="1100" b="1" dirty="0"/>
              <a:t> Proxy Server Interface bound to port</a:t>
            </a:r>
          </a:p>
          <a:p>
            <a:r>
              <a:rPr lang="en-US" sz="1100" b="1" dirty="0"/>
              <a:t>50052 waiting to receive OMCI Messages via</a:t>
            </a:r>
          </a:p>
          <a:p>
            <a:r>
              <a:rPr lang="en-US" sz="1100" b="1" dirty="0" err="1"/>
              <a:t>gRPC</a:t>
            </a:r>
            <a:endParaRPr lang="en-US" sz="1100" b="1" dirty="0"/>
          </a:p>
        </p:txBody>
      </p:sp>
      <p:sp>
        <p:nvSpPr>
          <p:cNvPr id="35" name="TextBox 34">
            <a:extLst>
              <a:ext uri="{FF2B5EF4-FFF2-40B4-BE49-F238E27FC236}">
                <a16:creationId xmlns:a16="http://schemas.microsoft.com/office/drawing/2014/main" id="{DB9EBD31-9844-B679-01C0-D23BFC69935B}"/>
              </a:ext>
            </a:extLst>
          </p:cNvPr>
          <p:cNvSpPr txBox="1"/>
          <p:nvPr/>
        </p:nvSpPr>
        <p:spPr>
          <a:xfrm>
            <a:off x="6074230" y="3556528"/>
            <a:ext cx="3148619" cy="738664"/>
          </a:xfrm>
          <a:prstGeom prst="rect">
            <a:avLst/>
          </a:prstGeom>
          <a:noFill/>
        </p:spPr>
        <p:txBody>
          <a:bodyPr wrap="none" rtlCol="0">
            <a:spAutoFit/>
          </a:bodyPr>
          <a:lstStyle/>
          <a:p>
            <a:r>
              <a:rPr lang="en-US" b="1" dirty="0" err="1">
                <a:solidFill>
                  <a:schemeClr val="bg2"/>
                </a:solidFill>
              </a:rPr>
              <a:t>vOMCI</a:t>
            </a:r>
            <a:r>
              <a:rPr lang="en-US" b="1" dirty="0">
                <a:solidFill>
                  <a:schemeClr val="bg2"/>
                </a:solidFill>
              </a:rPr>
              <a:t> Function also acts as </a:t>
            </a:r>
            <a:br>
              <a:rPr lang="en-US" b="1" dirty="0">
                <a:solidFill>
                  <a:schemeClr val="bg2"/>
                </a:solidFill>
              </a:rPr>
            </a:br>
            <a:r>
              <a:rPr lang="en-US" b="1" dirty="0">
                <a:solidFill>
                  <a:schemeClr val="bg2"/>
                </a:solidFill>
              </a:rPr>
              <a:t>client and connects to </a:t>
            </a:r>
            <a:r>
              <a:rPr lang="en-US" b="1" dirty="0" err="1">
                <a:solidFill>
                  <a:schemeClr val="bg2"/>
                </a:solidFill>
              </a:rPr>
              <a:t>vOMCI</a:t>
            </a:r>
            <a:r>
              <a:rPr lang="en-US" b="1" dirty="0">
                <a:solidFill>
                  <a:schemeClr val="bg2"/>
                </a:solidFill>
              </a:rPr>
              <a:t> </a:t>
            </a:r>
            <a:br>
              <a:rPr lang="en-US" b="1" dirty="0">
                <a:solidFill>
                  <a:schemeClr val="bg2"/>
                </a:solidFill>
              </a:rPr>
            </a:br>
            <a:r>
              <a:rPr lang="en-US" b="1" dirty="0">
                <a:solidFill>
                  <a:schemeClr val="bg2"/>
                </a:solidFill>
              </a:rPr>
              <a:t>Proxy via the client </a:t>
            </a:r>
            <a:r>
              <a:rPr lang="en-US" b="1" dirty="0" err="1">
                <a:solidFill>
                  <a:schemeClr val="bg2"/>
                </a:solidFill>
              </a:rPr>
              <a:t>gRPC</a:t>
            </a:r>
            <a:r>
              <a:rPr lang="en-US" b="1" dirty="0">
                <a:solidFill>
                  <a:schemeClr val="bg2"/>
                </a:solidFill>
              </a:rPr>
              <a:t> interface</a:t>
            </a:r>
          </a:p>
        </p:txBody>
      </p:sp>
      <p:sp>
        <p:nvSpPr>
          <p:cNvPr id="36" name="TextBox 35">
            <a:extLst>
              <a:ext uri="{FF2B5EF4-FFF2-40B4-BE49-F238E27FC236}">
                <a16:creationId xmlns:a16="http://schemas.microsoft.com/office/drawing/2014/main" id="{A3758D27-11D4-88F5-7FE2-867976AF38D2}"/>
              </a:ext>
            </a:extLst>
          </p:cNvPr>
          <p:cNvSpPr txBox="1"/>
          <p:nvPr/>
        </p:nvSpPr>
        <p:spPr>
          <a:xfrm>
            <a:off x="6025244" y="2010761"/>
            <a:ext cx="2954655" cy="738664"/>
          </a:xfrm>
          <a:prstGeom prst="rect">
            <a:avLst/>
          </a:prstGeom>
          <a:noFill/>
        </p:spPr>
        <p:txBody>
          <a:bodyPr wrap="none" rtlCol="0">
            <a:spAutoFit/>
          </a:bodyPr>
          <a:lstStyle/>
          <a:p>
            <a:r>
              <a:rPr lang="en-US" b="1" dirty="0" err="1">
                <a:solidFill>
                  <a:schemeClr val="bg2"/>
                </a:solidFill>
              </a:rPr>
              <a:t>vOLTMF</a:t>
            </a:r>
            <a:r>
              <a:rPr lang="en-US" b="1" dirty="0">
                <a:solidFill>
                  <a:schemeClr val="bg2"/>
                </a:solidFill>
              </a:rPr>
              <a:t> also acts as client and </a:t>
            </a:r>
          </a:p>
          <a:p>
            <a:r>
              <a:rPr lang="en-US" b="1" dirty="0">
                <a:solidFill>
                  <a:schemeClr val="bg2"/>
                </a:solidFill>
              </a:rPr>
              <a:t>connects to </a:t>
            </a:r>
            <a:r>
              <a:rPr lang="en-US" b="1" dirty="0" err="1">
                <a:solidFill>
                  <a:schemeClr val="bg2"/>
                </a:solidFill>
              </a:rPr>
              <a:t>vOMCI</a:t>
            </a:r>
            <a:r>
              <a:rPr lang="en-US" b="1" dirty="0">
                <a:solidFill>
                  <a:schemeClr val="bg2"/>
                </a:solidFill>
              </a:rPr>
              <a:t> Function via </a:t>
            </a:r>
          </a:p>
          <a:p>
            <a:r>
              <a:rPr lang="en-US" b="1" dirty="0">
                <a:solidFill>
                  <a:schemeClr val="bg2"/>
                </a:solidFill>
              </a:rPr>
              <a:t>the client </a:t>
            </a:r>
            <a:r>
              <a:rPr lang="en-US" b="1" dirty="0" err="1">
                <a:solidFill>
                  <a:schemeClr val="bg2"/>
                </a:solidFill>
              </a:rPr>
              <a:t>gRPC</a:t>
            </a:r>
            <a:r>
              <a:rPr lang="en-US" b="1" dirty="0">
                <a:solidFill>
                  <a:schemeClr val="bg2"/>
                </a:solidFill>
              </a:rPr>
              <a:t> interface</a:t>
            </a:r>
          </a:p>
        </p:txBody>
      </p:sp>
    </p:spTree>
    <p:extLst>
      <p:ext uri="{BB962C8B-B14F-4D97-AF65-F5344CB8AC3E}">
        <p14:creationId xmlns:p14="http://schemas.microsoft.com/office/powerpoint/2010/main" val="2712707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896332B-BE0F-BBC8-17DA-FAF226E6D610}"/>
              </a:ext>
            </a:extLst>
          </p:cNvPr>
          <p:cNvSpPr>
            <a:spLocks noGrp="1"/>
          </p:cNvSpPr>
          <p:nvPr>
            <p:ph type="body" idx="1"/>
          </p:nvPr>
        </p:nvSpPr>
        <p:spPr/>
        <p:txBody>
          <a:bodyPr/>
          <a:lstStyle/>
          <a:p>
            <a:r>
              <a:rPr lang="en-US" dirty="0"/>
              <a:t>The are 2 main interfaces to </a:t>
            </a:r>
            <a:r>
              <a:rPr lang="en-US" dirty="0" err="1"/>
              <a:t>vOMCI</a:t>
            </a:r>
            <a:r>
              <a:rPr lang="en-US" dirty="0"/>
              <a:t> architecture. </a:t>
            </a:r>
          </a:p>
          <a:p>
            <a:pPr marL="571500" indent="-342900">
              <a:buFontTx/>
              <a:buChar char="-"/>
            </a:pPr>
            <a:r>
              <a:rPr lang="en-US" dirty="0" err="1"/>
              <a:t>voltmf</a:t>
            </a:r>
            <a:r>
              <a:rPr lang="en-US" dirty="0"/>
              <a:t> </a:t>
            </a:r>
            <a:r>
              <a:rPr lang="en-US" dirty="0">
                <a:sym typeface="Wingdings" panose="05000000000000000000" pitchFamily="2" charset="2"/>
              </a:rPr>
              <a:t></a:t>
            </a:r>
            <a:r>
              <a:rPr lang="en-US" dirty="0" err="1">
                <a:sym typeface="Wingdings" panose="05000000000000000000" pitchFamily="2" charset="2"/>
              </a:rPr>
              <a:t>intf</a:t>
            </a:r>
            <a:r>
              <a:rPr lang="en-US" dirty="0">
                <a:sym typeface="Wingdings" panose="05000000000000000000" pitchFamily="2" charset="2"/>
              </a:rPr>
              <a:t> </a:t>
            </a:r>
            <a:r>
              <a:rPr lang="en-US" dirty="0" err="1">
                <a:sym typeface="Wingdings" panose="05000000000000000000" pitchFamily="2" charset="2"/>
              </a:rPr>
              <a:t>vomci</a:t>
            </a:r>
            <a:r>
              <a:rPr lang="en-US" dirty="0">
                <a:sym typeface="Wingdings" panose="05000000000000000000" pitchFamily="2" charset="2"/>
              </a:rPr>
              <a:t> Func</a:t>
            </a:r>
          </a:p>
          <a:p>
            <a:pPr marL="571500" indent="-342900">
              <a:buFontTx/>
              <a:buChar char="-"/>
            </a:pPr>
            <a:r>
              <a:rPr lang="en-US" dirty="0" err="1">
                <a:sym typeface="Wingdings" panose="05000000000000000000" pitchFamily="2" charset="2"/>
              </a:rPr>
              <a:t>Vomci</a:t>
            </a:r>
            <a:r>
              <a:rPr lang="en-US" dirty="0">
                <a:sym typeface="Wingdings" panose="05000000000000000000" pitchFamily="2" charset="2"/>
              </a:rPr>
              <a:t> Func </a:t>
            </a:r>
            <a:r>
              <a:rPr lang="en-US" dirty="0" err="1">
                <a:sym typeface="Wingdings" panose="05000000000000000000" pitchFamily="2" charset="2"/>
              </a:rPr>
              <a:t>intf</a:t>
            </a:r>
            <a:r>
              <a:rPr lang="en-US" dirty="0">
                <a:sym typeface="Wingdings" panose="05000000000000000000" pitchFamily="2" charset="2"/>
              </a:rPr>
              <a:t> </a:t>
            </a:r>
            <a:r>
              <a:rPr lang="en-US" dirty="0" err="1">
                <a:sym typeface="Wingdings" panose="05000000000000000000" pitchFamily="2" charset="2"/>
              </a:rPr>
              <a:t>vomci</a:t>
            </a:r>
            <a:r>
              <a:rPr lang="en-US" dirty="0">
                <a:sym typeface="Wingdings" panose="05000000000000000000" pitchFamily="2" charset="2"/>
              </a:rPr>
              <a:t> Proxy</a:t>
            </a:r>
          </a:p>
          <a:p>
            <a:pPr marL="228600" indent="0"/>
            <a:r>
              <a:rPr lang="en-US" dirty="0">
                <a:sym typeface="Wingdings" panose="05000000000000000000" pitchFamily="2" charset="2"/>
              </a:rPr>
              <a:t>Each of these interfaces have specific roles. The </a:t>
            </a:r>
            <a:r>
              <a:rPr lang="en-US" dirty="0" err="1">
                <a:sym typeface="Wingdings" panose="05000000000000000000" pitchFamily="2" charset="2"/>
              </a:rPr>
              <a:t>vOLTMF</a:t>
            </a:r>
            <a:r>
              <a:rPr lang="en-US" dirty="0">
                <a:sym typeface="Wingdings" panose="05000000000000000000" pitchFamily="2" charset="2"/>
              </a:rPr>
              <a:t> aggregates all Northbound configs/data fetch from Management servers through Yang based modelling and then converts it to specific </a:t>
            </a:r>
            <a:r>
              <a:rPr lang="en-US" dirty="0" err="1">
                <a:sym typeface="Wingdings" panose="05000000000000000000" pitchFamily="2" charset="2"/>
              </a:rPr>
              <a:t>gPB</a:t>
            </a:r>
            <a:r>
              <a:rPr lang="en-US" dirty="0">
                <a:sym typeface="Wingdings" panose="05000000000000000000" pitchFamily="2" charset="2"/>
              </a:rPr>
              <a:t> based messages and relays it to </a:t>
            </a:r>
            <a:r>
              <a:rPr lang="en-US" dirty="0" err="1">
                <a:sym typeface="Wingdings" panose="05000000000000000000" pitchFamily="2" charset="2"/>
              </a:rPr>
              <a:t>vOMCI</a:t>
            </a:r>
            <a:r>
              <a:rPr lang="en-US" dirty="0">
                <a:sym typeface="Wingdings" panose="05000000000000000000" pitchFamily="2" charset="2"/>
              </a:rPr>
              <a:t> Function</a:t>
            </a:r>
          </a:p>
          <a:p>
            <a:pPr marL="228600" indent="0"/>
            <a:r>
              <a:rPr lang="en-US" dirty="0">
                <a:sym typeface="Wingdings" panose="05000000000000000000" pitchFamily="2" charset="2"/>
              </a:rPr>
              <a:t>The </a:t>
            </a:r>
            <a:r>
              <a:rPr lang="en-US" dirty="0" err="1">
                <a:sym typeface="Wingdings" panose="05000000000000000000" pitchFamily="2" charset="2"/>
              </a:rPr>
              <a:t>vOMCI</a:t>
            </a:r>
            <a:r>
              <a:rPr lang="en-US" dirty="0">
                <a:sym typeface="Wingdings" panose="05000000000000000000" pitchFamily="2" charset="2"/>
              </a:rPr>
              <a:t> Function now needs to convert these messages to OMCI messages and encapsulate in specific </a:t>
            </a:r>
            <a:r>
              <a:rPr lang="en-US" dirty="0" err="1">
                <a:sym typeface="Wingdings" panose="05000000000000000000" pitchFamily="2" charset="2"/>
              </a:rPr>
              <a:t>gPB</a:t>
            </a:r>
            <a:r>
              <a:rPr lang="en-US" dirty="0">
                <a:sym typeface="Wingdings" panose="05000000000000000000" pitchFamily="2" charset="2"/>
              </a:rPr>
              <a:t> based messages and relay it to </a:t>
            </a:r>
            <a:r>
              <a:rPr lang="en-US" dirty="0" err="1">
                <a:sym typeface="Wingdings" panose="05000000000000000000" pitchFamily="2" charset="2"/>
              </a:rPr>
              <a:t>vOMCI</a:t>
            </a:r>
            <a:r>
              <a:rPr lang="en-US" dirty="0">
                <a:sym typeface="Wingdings" panose="05000000000000000000" pitchFamily="2" charset="2"/>
              </a:rPr>
              <a:t> Proxy.</a:t>
            </a:r>
          </a:p>
          <a:p>
            <a:pPr marL="571500" indent="-342900">
              <a:buFontTx/>
              <a:buChar char="-"/>
            </a:pPr>
            <a:endParaRPr lang="en-US" dirty="0"/>
          </a:p>
        </p:txBody>
      </p:sp>
      <p:sp>
        <p:nvSpPr>
          <p:cNvPr id="3" name="Text Placeholder 2">
            <a:extLst>
              <a:ext uri="{FF2B5EF4-FFF2-40B4-BE49-F238E27FC236}">
                <a16:creationId xmlns:a16="http://schemas.microsoft.com/office/drawing/2014/main" id="{092B8EE6-52AC-966F-CD5C-0AB68B32BC06}"/>
              </a:ext>
            </a:extLst>
          </p:cNvPr>
          <p:cNvSpPr>
            <a:spLocks noGrp="1"/>
          </p:cNvSpPr>
          <p:nvPr>
            <p:ph type="body" idx="2"/>
          </p:nvPr>
        </p:nvSpPr>
        <p:spPr/>
        <p:txBody>
          <a:bodyPr/>
          <a:lstStyle/>
          <a:p>
            <a:r>
              <a:rPr lang="en-US" dirty="0"/>
              <a:t>Protocol Buffers</a:t>
            </a:r>
          </a:p>
        </p:txBody>
      </p:sp>
    </p:spTree>
    <p:extLst>
      <p:ext uri="{BB962C8B-B14F-4D97-AF65-F5344CB8AC3E}">
        <p14:creationId xmlns:p14="http://schemas.microsoft.com/office/powerpoint/2010/main" val="139364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F0AE7-E5FA-7C9E-78F4-3B1781B6443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C36B924-C8CC-EEE0-B86B-FC83BEE17342}"/>
              </a:ext>
            </a:extLst>
          </p:cNvPr>
          <p:cNvSpPr>
            <a:spLocks noGrp="1"/>
          </p:cNvSpPr>
          <p:nvPr>
            <p:ph type="body" idx="1"/>
          </p:nvPr>
        </p:nvSpPr>
        <p:spPr/>
        <p:txBody>
          <a:bodyPr/>
          <a:lstStyle/>
          <a:p>
            <a:pPr marL="228600" indent="0"/>
            <a:r>
              <a:rPr lang="en-US" dirty="0"/>
              <a:t>The </a:t>
            </a:r>
            <a:r>
              <a:rPr lang="en-US" dirty="0" err="1"/>
              <a:t>gPB</a:t>
            </a:r>
            <a:r>
              <a:rPr lang="en-US" dirty="0"/>
              <a:t> messages is defined by standard as to what messages are to be supported. And as part of the project we will be implementing 2 types of messages to demonstrate the </a:t>
            </a:r>
            <a:r>
              <a:rPr lang="en-US" dirty="0" err="1"/>
              <a:t>mTLS</a:t>
            </a:r>
            <a:r>
              <a:rPr lang="en-US" dirty="0"/>
              <a:t>.</a:t>
            </a:r>
            <a:br>
              <a:rPr lang="en-US" dirty="0"/>
            </a:br>
            <a:endParaRPr lang="en-US" dirty="0"/>
          </a:p>
        </p:txBody>
      </p:sp>
      <p:sp>
        <p:nvSpPr>
          <p:cNvPr id="3" name="Text Placeholder 2">
            <a:extLst>
              <a:ext uri="{FF2B5EF4-FFF2-40B4-BE49-F238E27FC236}">
                <a16:creationId xmlns:a16="http://schemas.microsoft.com/office/drawing/2014/main" id="{B8EE140A-A919-F058-CA8C-B5318DFA4ED0}"/>
              </a:ext>
            </a:extLst>
          </p:cNvPr>
          <p:cNvSpPr>
            <a:spLocks noGrp="1"/>
          </p:cNvSpPr>
          <p:nvPr>
            <p:ph type="body" idx="2"/>
          </p:nvPr>
        </p:nvSpPr>
        <p:spPr/>
        <p:txBody>
          <a:bodyPr>
            <a:normAutofit/>
          </a:bodyPr>
          <a:lstStyle/>
          <a:p>
            <a:r>
              <a:rPr lang="en-US" dirty="0"/>
              <a:t>Protocol Buffers</a:t>
            </a:r>
          </a:p>
          <a:p>
            <a:r>
              <a:rPr lang="en-US" sz="2000" dirty="0" err="1"/>
              <a:t>voltmf</a:t>
            </a:r>
            <a:r>
              <a:rPr lang="en-US" sz="2000" dirty="0"/>
              <a:t> </a:t>
            </a:r>
            <a:r>
              <a:rPr lang="en-US" sz="2000" dirty="0">
                <a:sym typeface="Wingdings" panose="05000000000000000000" pitchFamily="2" charset="2"/>
              </a:rPr>
              <a:t></a:t>
            </a:r>
            <a:r>
              <a:rPr lang="en-US" sz="2000" dirty="0" err="1">
                <a:sym typeface="Wingdings" panose="05000000000000000000" pitchFamily="2" charset="2"/>
              </a:rPr>
              <a:t>intf</a:t>
            </a:r>
            <a:r>
              <a:rPr lang="en-US" sz="2000" dirty="0">
                <a:sym typeface="Wingdings" panose="05000000000000000000" pitchFamily="2" charset="2"/>
              </a:rPr>
              <a:t> </a:t>
            </a:r>
            <a:r>
              <a:rPr lang="en-US" sz="2000" dirty="0" err="1">
                <a:sym typeface="Wingdings" panose="05000000000000000000" pitchFamily="2" charset="2"/>
              </a:rPr>
              <a:t>vomci</a:t>
            </a:r>
            <a:r>
              <a:rPr lang="en-US" sz="2000" dirty="0">
                <a:sym typeface="Wingdings" panose="05000000000000000000" pitchFamily="2" charset="2"/>
              </a:rPr>
              <a:t> Func</a:t>
            </a:r>
          </a:p>
          <a:p>
            <a:endParaRPr lang="en-US" dirty="0"/>
          </a:p>
        </p:txBody>
      </p:sp>
      <p:pic>
        <p:nvPicPr>
          <p:cNvPr id="5" name="Picture 4">
            <a:extLst>
              <a:ext uri="{FF2B5EF4-FFF2-40B4-BE49-F238E27FC236}">
                <a16:creationId xmlns:a16="http://schemas.microsoft.com/office/drawing/2014/main" id="{4DF3B69B-79FC-A69F-1390-E3D542FA66BA}"/>
              </a:ext>
            </a:extLst>
          </p:cNvPr>
          <p:cNvPicPr>
            <a:picLocks noChangeAspect="1"/>
          </p:cNvPicPr>
          <p:nvPr/>
        </p:nvPicPr>
        <p:blipFill>
          <a:blip r:embed="rId2"/>
          <a:stretch>
            <a:fillRect/>
          </a:stretch>
        </p:blipFill>
        <p:spPr>
          <a:xfrm>
            <a:off x="488328" y="3144087"/>
            <a:ext cx="6534486" cy="2768742"/>
          </a:xfrm>
          <a:prstGeom prst="rect">
            <a:avLst/>
          </a:prstGeom>
        </p:spPr>
      </p:pic>
    </p:spTree>
    <p:extLst>
      <p:ext uri="{BB962C8B-B14F-4D97-AF65-F5344CB8AC3E}">
        <p14:creationId xmlns:p14="http://schemas.microsoft.com/office/powerpoint/2010/main" val="3954557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7F003-E300-DC52-AECA-EF2B71352B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632E9B6-9337-DBA3-2482-002A7C08A3B0}"/>
              </a:ext>
            </a:extLst>
          </p:cNvPr>
          <p:cNvSpPr>
            <a:spLocks noGrp="1"/>
          </p:cNvSpPr>
          <p:nvPr>
            <p:ph type="body" idx="1"/>
          </p:nvPr>
        </p:nvSpPr>
        <p:spPr/>
        <p:txBody>
          <a:bodyPr/>
          <a:lstStyle/>
          <a:p>
            <a:pPr marL="228600" indent="0"/>
            <a:r>
              <a:rPr lang="en-US" dirty="0"/>
              <a:t>The </a:t>
            </a:r>
            <a:r>
              <a:rPr lang="en-US" dirty="0" err="1"/>
              <a:t>gPB</a:t>
            </a:r>
            <a:r>
              <a:rPr lang="en-US" dirty="0"/>
              <a:t> messages is defined by standard as to what messages are to be supported. And as part of the project we will be implementing the OMCI packet message over the </a:t>
            </a:r>
            <a:r>
              <a:rPr lang="en-US" dirty="0" err="1"/>
              <a:t>gPB</a:t>
            </a:r>
            <a:r>
              <a:rPr lang="en-US" dirty="0"/>
              <a:t>.</a:t>
            </a:r>
          </a:p>
          <a:p>
            <a:pPr marL="228600" indent="0"/>
            <a:endParaRPr lang="en-US" dirty="0"/>
          </a:p>
        </p:txBody>
      </p:sp>
      <p:sp>
        <p:nvSpPr>
          <p:cNvPr id="3" name="Text Placeholder 2">
            <a:extLst>
              <a:ext uri="{FF2B5EF4-FFF2-40B4-BE49-F238E27FC236}">
                <a16:creationId xmlns:a16="http://schemas.microsoft.com/office/drawing/2014/main" id="{45B0E091-E4CE-E0C8-C58C-2EB5DC79D90E}"/>
              </a:ext>
            </a:extLst>
          </p:cNvPr>
          <p:cNvSpPr>
            <a:spLocks noGrp="1"/>
          </p:cNvSpPr>
          <p:nvPr>
            <p:ph type="body" idx="2"/>
          </p:nvPr>
        </p:nvSpPr>
        <p:spPr/>
        <p:txBody>
          <a:bodyPr>
            <a:normAutofit/>
          </a:bodyPr>
          <a:lstStyle/>
          <a:p>
            <a:r>
              <a:rPr lang="en-US" dirty="0"/>
              <a:t>Protocol Buffers</a:t>
            </a:r>
          </a:p>
          <a:p>
            <a:pPr marL="228600" indent="0"/>
            <a:r>
              <a:rPr lang="en-US" sz="2000" dirty="0" err="1">
                <a:sym typeface="Wingdings" panose="05000000000000000000" pitchFamily="2" charset="2"/>
              </a:rPr>
              <a:t>Vomci</a:t>
            </a:r>
            <a:r>
              <a:rPr lang="en-US" sz="2000" dirty="0">
                <a:sym typeface="Wingdings" panose="05000000000000000000" pitchFamily="2" charset="2"/>
              </a:rPr>
              <a:t> Func </a:t>
            </a:r>
            <a:r>
              <a:rPr lang="en-US" sz="2000" dirty="0" err="1">
                <a:sym typeface="Wingdings" panose="05000000000000000000" pitchFamily="2" charset="2"/>
              </a:rPr>
              <a:t>intf</a:t>
            </a:r>
            <a:r>
              <a:rPr lang="en-US" sz="2000" dirty="0">
                <a:sym typeface="Wingdings" panose="05000000000000000000" pitchFamily="2" charset="2"/>
              </a:rPr>
              <a:t> </a:t>
            </a:r>
            <a:r>
              <a:rPr lang="en-US" sz="2000" dirty="0" err="1">
                <a:sym typeface="Wingdings" panose="05000000000000000000" pitchFamily="2" charset="2"/>
              </a:rPr>
              <a:t>vomci</a:t>
            </a:r>
            <a:r>
              <a:rPr lang="en-US" sz="2000" dirty="0">
                <a:sym typeface="Wingdings" panose="05000000000000000000" pitchFamily="2" charset="2"/>
              </a:rPr>
              <a:t> Proxy</a:t>
            </a:r>
          </a:p>
          <a:p>
            <a:endParaRPr lang="en-US" dirty="0"/>
          </a:p>
        </p:txBody>
      </p:sp>
      <p:pic>
        <p:nvPicPr>
          <p:cNvPr id="6" name="Picture 5">
            <a:extLst>
              <a:ext uri="{FF2B5EF4-FFF2-40B4-BE49-F238E27FC236}">
                <a16:creationId xmlns:a16="http://schemas.microsoft.com/office/drawing/2014/main" id="{ED0F9D48-696E-4A18-0EF7-2C627C8F41F1}"/>
              </a:ext>
            </a:extLst>
          </p:cNvPr>
          <p:cNvPicPr>
            <a:picLocks noChangeAspect="1"/>
          </p:cNvPicPr>
          <p:nvPr/>
        </p:nvPicPr>
        <p:blipFill>
          <a:blip r:embed="rId2"/>
          <a:stretch>
            <a:fillRect/>
          </a:stretch>
        </p:blipFill>
        <p:spPr>
          <a:xfrm>
            <a:off x="609600" y="3517387"/>
            <a:ext cx="6705945" cy="2305168"/>
          </a:xfrm>
          <a:prstGeom prst="rect">
            <a:avLst/>
          </a:prstGeom>
        </p:spPr>
      </p:pic>
    </p:spTree>
    <p:extLst>
      <p:ext uri="{BB962C8B-B14F-4D97-AF65-F5344CB8AC3E}">
        <p14:creationId xmlns:p14="http://schemas.microsoft.com/office/powerpoint/2010/main" val="2806551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C5101157-47AF-A63B-15A4-0712087D564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465FCD3-D3DA-A40D-6E27-4FBFF8156A4A}"/>
              </a:ext>
            </a:extLst>
          </p:cNvPr>
          <p:cNvSpPr/>
          <p:nvPr/>
        </p:nvSpPr>
        <p:spPr>
          <a:xfrm>
            <a:off x="576943" y="1458685"/>
            <a:ext cx="1436914" cy="62048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vOLTMF</a:t>
            </a:r>
            <a:endParaRPr lang="en-US" dirty="0"/>
          </a:p>
        </p:txBody>
      </p:sp>
      <p:sp>
        <p:nvSpPr>
          <p:cNvPr id="8" name="Rectangle: Rounded Corners 7">
            <a:extLst>
              <a:ext uri="{FF2B5EF4-FFF2-40B4-BE49-F238E27FC236}">
                <a16:creationId xmlns:a16="http://schemas.microsoft.com/office/drawing/2014/main" id="{745F0A6C-4C77-4A3F-2B2E-EE8A33E09667}"/>
              </a:ext>
            </a:extLst>
          </p:cNvPr>
          <p:cNvSpPr/>
          <p:nvPr/>
        </p:nvSpPr>
        <p:spPr>
          <a:xfrm>
            <a:off x="3722914" y="1406977"/>
            <a:ext cx="1436914" cy="620486"/>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vOMCI</a:t>
            </a:r>
            <a:r>
              <a:rPr lang="en-US" dirty="0"/>
              <a:t> Func</a:t>
            </a:r>
          </a:p>
        </p:txBody>
      </p:sp>
      <p:sp>
        <p:nvSpPr>
          <p:cNvPr id="11" name="Rectangle: Rounded Corners 10">
            <a:extLst>
              <a:ext uri="{FF2B5EF4-FFF2-40B4-BE49-F238E27FC236}">
                <a16:creationId xmlns:a16="http://schemas.microsoft.com/office/drawing/2014/main" id="{16DF8DE4-F854-0903-786A-F35302EEE27D}"/>
              </a:ext>
            </a:extLst>
          </p:cNvPr>
          <p:cNvSpPr/>
          <p:nvPr/>
        </p:nvSpPr>
        <p:spPr>
          <a:xfrm>
            <a:off x="7162800" y="1442356"/>
            <a:ext cx="1436914" cy="620486"/>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vOMCI</a:t>
            </a:r>
            <a:r>
              <a:rPr lang="en-US" dirty="0"/>
              <a:t> Proxy</a:t>
            </a:r>
          </a:p>
        </p:txBody>
      </p:sp>
      <p:cxnSp>
        <p:nvCxnSpPr>
          <p:cNvPr id="15" name="Straight Arrow Connector 14">
            <a:extLst>
              <a:ext uri="{FF2B5EF4-FFF2-40B4-BE49-F238E27FC236}">
                <a16:creationId xmlns:a16="http://schemas.microsoft.com/office/drawing/2014/main" id="{BCCBB9EB-4283-83D2-7F7C-BEA24E73FD61}"/>
              </a:ext>
            </a:extLst>
          </p:cNvPr>
          <p:cNvCxnSpPr>
            <a:stCxn id="5" idx="2"/>
          </p:cNvCxnSpPr>
          <p:nvPr/>
        </p:nvCxnSpPr>
        <p:spPr>
          <a:xfrm>
            <a:off x="1295400" y="2079171"/>
            <a:ext cx="0" cy="42998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0FF6B7F-1C81-5A8F-6C35-28C00AEA1A49}"/>
              </a:ext>
            </a:extLst>
          </p:cNvPr>
          <p:cNvCxnSpPr>
            <a:cxnSpLocks/>
          </p:cNvCxnSpPr>
          <p:nvPr/>
        </p:nvCxnSpPr>
        <p:spPr>
          <a:xfrm>
            <a:off x="4294414" y="2027463"/>
            <a:ext cx="5443" cy="43352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EBB40FC-7128-DCDC-CCF5-E51AF4774F1C}"/>
              </a:ext>
            </a:extLst>
          </p:cNvPr>
          <p:cNvCxnSpPr>
            <a:cxnSpLocks/>
            <a:stCxn id="11" idx="2"/>
          </p:cNvCxnSpPr>
          <p:nvPr/>
        </p:nvCxnSpPr>
        <p:spPr>
          <a:xfrm>
            <a:off x="7881257" y="2062842"/>
            <a:ext cx="0" cy="42372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17B8EA5-F975-1483-D83A-9A5B5BEA36EF}"/>
              </a:ext>
            </a:extLst>
          </p:cNvPr>
          <p:cNvCxnSpPr>
            <a:cxnSpLocks/>
          </p:cNvCxnSpPr>
          <p:nvPr/>
        </p:nvCxnSpPr>
        <p:spPr>
          <a:xfrm>
            <a:off x="1295400" y="2318657"/>
            <a:ext cx="2999014" cy="23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Arrow: Curved Left 25">
            <a:extLst>
              <a:ext uri="{FF2B5EF4-FFF2-40B4-BE49-F238E27FC236}">
                <a16:creationId xmlns:a16="http://schemas.microsoft.com/office/drawing/2014/main" id="{67F2F1EB-3E32-D5C9-7EE3-2E84052054E3}"/>
              </a:ext>
            </a:extLst>
          </p:cNvPr>
          <p:cNvSpPr/>
          <p:nvPr/>
        </p:nvSpPr>
        <p:spPr>
          <a:xfrm>
            <a:off x="4305300" y="2449285"/>
            <a:ext cx="625921" cy="43542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7" name="Straight Arrow Connector 26">
            <a:extLst>
              <a:ext uri="{FF2B5EF4-FFF2-40B4-BE49-F238E27FC236}">
                <a16:creationId xmlns:a16="http://schemas.microsoft.com/office/drawing/2014/main" id="{C1457165-9D14-08F3-ECCA-DCEE542E7459}"/>
              </a:ext>
            </a:extLst>
          </p:cNvPr>
          <p:cNvCxnSpPr>
            <a:cxnSpLocks/>
          </p:cNvCxnSpPr>
          <p:nvPr/>
        </p:nvCxnSpPr>
        <p:spPr>
          <a:xfrm>
            <a:off x="4305300" y="3845376"/>
            <a:ext cx="3565064" cy="32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Flowchart: Multidocument 36">
            <a:extLst>
              <a:ext uri="{FF2B5EF4-FFF2-40B4-BE49-F238E27FC236}">
                <a16:creationId xmlns:a16="http://schemas.microsoft.com/office/drawing/2014/main" id="{D7A7F50D-9A97-203E-159A-ED59279A31D1}"/>
              </a:ext>
            </a:extLst>
          </p:cNvPr>
          <p:cNvSpPr/>
          <p:nvPr/>
        </p:nvSpPr>
        <p:spPr>
          <a:xfrm>
            <a:off x="3999142" y="3017377"/>
            <a:ext cx="752230" cy="625929"/>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err="1"/>
              <a:t>listenforvomciRx</a:t>
            </a:r>
            <a:r>
              <a:rPr lang="en-US" sz="1050" dirty="0"/>
              <a:t>()</a:t>
            </a:r>
          </a:p>
        </p:txBody>
      </p:sp>
      <p:sp>
        <p:nvSpPr>
          <p:cNvPr id="41" name="Arrow: Curved Left 40">
            <a:extLst>
              <a:ext uri="{FF2B5EF4-FFF2-40B4-BE49-F238E27FC236}">
                <a16:creationId xmlns:a16="http://schemas.microsoft.com/office/drawing/2014/main" id="{AA906B69-E2F8-62BC-6761-14FAF004DA7A}"/>
              </a:ext>
            </a:extLst>
          </p:cNvPr>
          <p:cNvSpPr/>
          <p:nvPr/>
        </p:nvSpPr>
        <p:spPr>
          <a:xfrm>
            <a:off x="7892151" y="3977367"/>
            <a:ext cx="625921" cy="43542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6" name="Straight Arrow Connector 45">
            <a:extLst>
              <a:ext uri="{FF2B5EF4-FFF2-40B4-BE49-F238E27FC236}">
                <a16:creationId xmlns:a16="http://schemas.microsoft.com/office/drawing/2014/main" id="{7CD4361B-3417-6AE3-6339-260253474493}"/>
              </a:ext>
            </a:extLst>
          </p:cNvPr>
          <p:cNvCxnSpPr>
            <a:cxnSpLocks/>
          </p:cNvCxnSpPr>
          <p:nvPr/>
        </p:nvCxnSpPr>
        <p:spPr>
          <a:xfrm flipH="1" flipV="1">
            <a:off x="4490351" y="4637312"/>
            <a:ext cx="3380013" cy="46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Flowchart: Multidocument 47">
            <a:extLst>
              <a:ext uri="{FF2B5EF4-FFF2-40B4-BE49-F238E27FC236}">
                <a16:creationId xmlns:a16="http://schemas.microsoft.com/office/drawing/2014/main" id="{5C4090D3-27E1-2BDF-4782-055727796722}"/>
              </a:ext>
            </a:extLst>
          </p:cNvPr>
          <p:cNvSpPr/>
          <p:nvPr/>
        </p:nvSpPr>
        <p:spPr>
          <a:xfrm>
            <a:off x="3804578" y="4335908"/>
            <a:ext cx="707560" cy="625929"/>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listenforvomciRx</a:t>
            </a:r>
            <a:r>
              <a:rPr lang="en-US" sz="1000" dirty="0"/>
              <a:t>()</a:t>
            </a:r>
          </a:p>
        </p:txBody>
      </p:sp>
      <p:sp>
        <p:nvSpPr>
          <p:cNvPr id="52" name="Arrow: Curved Left 51">
            <a:extLst>
              <a:ext uri="{FF2B5EF4-FFF2-40B4-BE49-F238E27FC236}">
                <a16:creationId xmlns:a16="http://schemas.microsoft.com/office/drawing/2014/main" id="{09E71801-B9AC-4FC8-7D27-EBC27F882579}"/>
              </a:ext>
            </a:extLst>
          </p:cNvPr>
          <p:cNvSpPr/>
          <p:nvPr/>
        </p:nvSpPr>
        <p:spPr>
          <a:xfrm>
            <a:off x="4305300" y="5305424"/>
            <a:ext cx="625921" cy="43542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3" name="Straight Arrow Connector 52">
            <a:extLst>
              <a:ext uri="{FF2B5EF4-FFF2-40B4-BE49-F238E27FC236}">
                <a16:creationId xmlns:a16="http://schemas.microsoft.com/office/drawing/2014/main" id="{030CCA0F-50F6-125B-BEE7-FBB324B75E3D}"/>
              </a:ext>
            </a:extLst>
          </p:cNvPr>
          <p:cNvCxnSpPr>
            <a:cxnSpLocks/>
          </p:cNvCxnSpPr>
          <p:nvPr/>
        </p:nvCxnSpPr>
        <p:spPr>
          <a:xfrm flipH="1" flipV="1">
            <a:off x="1262742" y="5978296"/>
            <a:ext cx="3039837" cy="36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C6AB6B0-F6BB-AC76-92D1-B35283F63874}"/>
              </a:ext>
            </a:extLst>
          </p:cNvPr>
          <p:cNvSpPr txBox="1"/>
          <p:nvPr/>
        </p:nvSpPr>
        <p:spPr>
          <a:xfrm>
            <a:off x="1990123" y="2034691"/>
            <a:ext cx="970137" cy="307777"/>
          </a:xfrm>
          <a:prstGeom prst="rect">
            <a:avLst/>
          </a:prstGeom>
          <a:noFill/>
        </p:spPr>
        <p:txBody>
          <a:bodyPr wrap="none" rtlCol="0">
            <a:spAutoFit/>
          </a:bodyPr>
          <a:lstStyle/>
          <a:p>
            <a:r>
              <a:rPr lang="en-US" dirty="0" err="1"/>
              <a:t>GetData</a:t>
            </a:r>
            <a:r>
              <a:rPr lang="en-US" dirty="0"/>
              <a:t>()</a:t>
            </a:r>
          </a:p>
        </p:txBody>
      </p:sp>
      <p:sp>
        <p:nvSpPr>
          <p:cNvPr id="59" name="TextBox 58">
            <a:extLst>
              <a:ext uri="{FF2B5EF4-FFF2-40B4-BE49-F238E27FC236}">
                <a16:creationId xmlns:a16="http://schemas.microsoft.com/office/drawing/2014/main" id="{50FE22DA-4628-BE45-1789-E658FECFDD02}"/>
              </a:ext>
            </a:extLst>
          </p:cNvPr>
          <p:cNvSpPr txBox="1"/>
          <p:nvPr/>
        </p:nvSpPr>
        <p:spPr>
          <a:xfrm>
            <a:off x="4972050" y="2424665"/>
            <a:ext cx="1835759" cy="523220"/>
          </a:xfrm>
          <a:prstGeom prst="rect">
            <a:avLst/>
          </a:prstGeom>
          <a:noFill/>
        </p:spPr>
        <p:txBody>
          <a:bodyPr wrap="none" rtlCol="0">
            <a:spAutoFit/>
          </a:bodyPr>
          <a:lstStyle/>
          <a:p>
            <a:r>
              <a:rPr lang="en-US" dirty="0"/>
              <a:t>Format a GET OMCI</a:t>
            </a:r>
            <a:br>
              <a:rPr lang="en-US" dirty="0"/>
            </a:br>
            <a:r>
              <a:rPr lang="en-US" dirty="0"/>
              <a:t>Message</a:t>
            </a:r>
          </a:p>
        </p:txBody>
      </p:sp>
      <p:sp>
        <p:nvSpPr>
          <p:cNvPr id="60" name="TextBox 59">
            <a:extLst>
              <a:ext uri="{FF2B5EF4-FFF2-40B4-BE49-F238E27FC236}">
                <a16:creationId xmlns:a16="http://schemas.microsoft.com/office/drawing/2014/main" id="{651339EC-A2D0-4466-CE73-A9FFC4296634}"/>
              </a:ext>
            </a:extLst>
          </p:cNvPr>
          <p:cNvSpPr txBox="1"/>
          <p:nvPr/>
        </p:nvSpPr>
        <p:spPr>
          <a:xfrm>
            <a:off x="1846731" y="3032107"/>
            <a:ext cx="2191626" cy="461665"/>
          </a:xfrm>
          <a:prstGeom prst="rect">
            <a:avLst/>
          </a:prstGeom>
          <a:noFill/>
        </p:spPr>
        <p:txBody>
          <a:bodyPr wrap="none" rtlCol="0">
            <a:spAutoFit/>
          </a:bodyPr>
          <a:lstStyle/>
          <a:p>
            <a:r>
              <a:rPr lang="en-US" sz="1200" dirty="0"/>
              <a:t>Start GO Routine for listening</a:t>
            </a:r>
          </a:p>
          <a:p>
            <a:r>
              <a:rPr lang="en-US" sz="1200" dirty="0"/>
              <a:t>Streams from </a:t>
            </a:r>
            <a:r>
              <a:rPr lang="en-US" sz="1200" dirty="0" err="1"/>
              <a:t>vomci</a:t>
            </a:r>
            <a:r>
              <a:rPr lang="en-US" sz="1200" dirty="0"/>
              <a:t> proxy</a:t>
            </a:r>
          </a:p>
        </p:txBody>
      </p:sp>
      <p:sp>
        <p:nvSpPr>
          <p:cNvPr id="62" name="TextBox 61">
            <a:extLst>
              <a:ext uri="{FF2B5EF4-FFF2-40B4-BE49-F238E27FC236}">
                <a16:creationId xmlns:a16="http://schemas.microsoft.com/office/drawing/2014/main" id="{28D19E70-8D2F-A0D7-0EEF-F549EFF05233}"/>
              </a:ext>
            </a:extLst>
          </p:cNvPr>
          <p:cNvSpPr txBox="1"/>
          <p:nvPr/>
        </p:nvSpPr>
        <p:spPr>
          <a:xfrm>
            <a:off x="5073357" y="3569369"/>
            <a:ext cx="1906291" cy="307777"/>
          </a:xfrm>
          <a:prstGeom prst="rect">
            <a:avLst/>
          </a:prstGeom>
          <a:noFill/>
        </p:spPr>
        <p:txBody>
          <a:bodyPr wrap="none" rtlCol="0">
            <a:spAutoFit/>
          </a:bodyPr>
          <a:lstStyle/>
          <a:p>
            <a:r>
              <a:rPr lang="en-US" dirty="0" err="1"/>
              <a:t>vOMCITx</a:t>
            </a:r>
            <a:r>
              <a:rPr lang="en-US" dirty="0"/>
              <a:t>(</a:t>
            </a:r>
            <a:r>
              <a:rPr lang="en-US" dirty="0" err="1"/>
              <a:t>vOMCMsg</a:t>
            </a:r>
            <a:r>
              <a:rPr lang="en-US" dirty="0"/>
              <a:t>)</a:t>
            </a:r>
          </a:p>
        </p:txBody>
      </p:sp>
      <p:sp>
        <p:nvSpPr>
          <p:cNvPr id="64" name="TextBox 63">
            <a:extLst>
              <a:ext uri="{FF2B5EF4-FFF2-40B4-BE49-F238E27FC236}">
                <a16:creationId xmlns:a16="http://schemas.microsoft.com/office/drawing/2014/main" id="{0875FF80-0D00-CA96-FBE4-E1F45165CB6B}"/>
              </a:ext>
            </a:extLst>
          </p:cNvPr>
          <p:cNvSpPr txBox="1"/>
          <p:nvPr/>
        </p:nvSpPr>
        <p:spPr>
          <a:xfrm>
            <a:off x="5790606" y="3947717"/>
            <a:ext cx="2113079" cy="461665"/>
          </a:xfrm>
          <a:prstGeom prst="rect">
            <a:avLst/>
          </a:prstGeom>
          <a:noFill/>
        </p:spPr>
        <p:txBody>
          <a:bodyPr wrap="none" rtlCol="0">
            <a:spAutoFit/>
          </a:bodyPr>
          <a:lstStyle/>
          <a:p>
            <a:r>
              <a:rPr lang="en-US" sz="1200" dirty="0"/>
              <a:t>Streams response via </a:t>
            </a:r>
            <a:r>
              <a:rPr lang="en-US" sz="1200" dirty="0" err="1"/>
              <a:t>vomci</a:t>
            </a:r>
            <a:br>
              <a:rPr lang="en-US" sz="1200" dirty="0"/>
            </a:br>
            <a:r>
              <a:rPr lang="en-US" sz="1200" dirty="0"/>
              <a:t>Proxy’s </a:t>
            </a:r>
            <a:r>
              <a:rPr lang="en-US" sz="1200" dirty="0" err="1"/>
              <a:t>listenForvOMCIRx</a:t>
            </a:r>
            <a:r>
              <a:rPr lang="en-US" sz="1200" dirty="0"/>
              <a:t>()</a:t>
            </a:r>
          </a:p>
        </p:txBody>
      </p:sp>
      <p:sp>
        <p:nvSpPr>
          <p:cNvPr id="65" name="TextBox 64">
            <a:extLst>
              <a:ext uri="{FF2B5EF4-FFF2-40B4-BE49-F238E27FC236}">
                <a16:creationId xmlns:a16="http://schemas.microsoft.com/office/drawing/2014/main" id="{B2448040-16D7-D9CA-F9A9-00E346F13471}"/>
              </a:ext>
            </a:extLst>
          </p:cNvPr>
          <p:cNvSpPr txBox="1"/>
          <p:nvPr/>
        </p:nvSpPr>
        <p:spPr>
          <a:xfrm>
            <a:off x="1824372" y="3671273"/>
            <a:ext cx="2271776" cy="600164"/>
          </a:xfrm>
          <a:prstGeom prst="rect">
            <a:avLst/>
          </a:prstGeom>
          <a:noFill/>
        </p:spPr>
        <p:txBody>
          <a:bodyPr wrap="none" rtlCol="0">
            <a:spAutoFit/>
          </a:bodyPr>
          <a:lstStyle/>
          <a:p>
            <a:r>
              <a:rPr lang="en-US" sz="1100" dirty="0" err="1"/>
              <a:t>vOMCITx</a:t>
            </a:r>
            <a:r>
              <a:rPr lang="en-US" sz="1100" dirty="0"/>
              <a:t> waits for message from</a:t>
            </a:r>
          </a:p>
          <a:p>
            <a:r>
              <a:rPr lang="en-US" sz="1100" dirty="0" err="1"/>
              <a:t>listenForvomciRx</a:t>
            </a:r>
            <a:r>
              <a:rPr lang="en-US" sz="1100" dirty="0"/>
              <a:t>() by using a </a:t>
            </a:r>
          </a:p>
          <a:p>
            <a:r>
              <a:rPr lang="en-US" sz="1100" dirty="0"/>
              <a:t>GO Channel which blocks</a:t>
            </a:r>
          </a:p>
        </p:txBody>
      </p:sp>
      <p:sp>
        <p:nvSpPr>
          <p:cNvPr id="66" name="Flowchart: Collate 65">
            <a:extLst>
              <a:ext uri="{FF2B5EF4-FFF2-40B4-BE49-F238E27FC236}">
                <a16:creationId xmlns:a16="http://schemas.microsoft.com/office/drawing/2014/main" id="{2E5D896C-3AA4-6E2A-C8C1-0B2977D57F4C}"/>
              </a:ext>
            </a:extLst>
          </p:cNvPr>
          <p:cNvSpPr/>
          <p:nvPr/>
        </p:nvSpPr>
        <p:spPr>
          <a:xfrm>
            <a:off x="4042811" y="3697034"/>
            <a:ext cx="413641" cy="372152"/>
          </a:xfrm>
          <a:prstGeom prst="flowChartCol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TextBox 66">
            <a:extLst>
              <a:ext uri="{FF2B5EF4-FFF2-40B4-BE49-F238E27FC236}">
                <a16:creationId xmlns:a16="http://schemas.microsoft.com/office/drawing/2014/main" id="{1CA3DA65-7C89-F04B-FDD3-464BEF1FA804}"/>
              </a:ext>
            </a:extLst>
          </p:cNvPr>
          <p:cNvSpPr txBox="1"/>
          <p:nvPr/>
        </p:nvSpPr>
        <p:spPr>
          <a:xfrm>
            <a:off x="4910853" y="5183640"/>
            <a:ext cx="2257349" cy="769441"/>
          </a:xfrm>
          <a:prstGeom prst="rect">
            <a:avLst/>
          </a:prstGeom>
          <a:noFill/>
        </p:spPr>
        <p:txBody>
          <a:bodyPr wrap="none" rtlCol="0">
            <a:spAutoFit/>
          </a:bodyPr>
          <a:lstStyle/>
          <a:p>
            <a:r>
              <a:rPr lang="en-US" sz="1100" dirty="0" err="1"/>
              <a:t>listenForVomcIRx</a:t>
            </a:r>
            <a:r>
              <a:rPr lang="en-US" sz="1100" dirty="0"/>
              <a:t>() puts </a:t>
            </a:r>
          </a:p>
          <a:p>
            <a:r>
              <a:rPr lang="en-US" sz="1100" dirty="0"/>
              <a:t>The response into waiting </a:t>
            </a:r>
          </a:p>
          <a:p>
            <a:r>
              <a:rPr lang="en-US" sz="1100" dirty="0"/>
              <a:t>GO channel of </a:t>
            </a:r>
            <a:r>
              <a:rPr lang="en-US" sz="1100" dirty="0" err="1"/>
              <a:t>vOMCITx</a:t>
            </a:r>
            <a:r>
              <a:rPr lang="en-US" sz="1100" dirty="0"/>
              <a:t>(), which</a:t>
            </a:r>
          </a:p>
          <a:p>
            <a:r>
              <a:rPr lang="en-US" sz="1100" dirty="0"/>
              <a:t>Formulates the GET Response</a:t>
            </a:r>
          </a:p>
        </p:txBody>
      </p:sp>
      <p:sp>
        <p:nvSpPr>
          <p:cNvPr id="68" name="TextBox 67">
            <a:extLst>
              <a:ext uri="{FF2B5EF4-FFF2-40B4-BE49-F238E27FC236}">
                <a16:creationId xmlns:a16="http://schemas.microsoft.com/office/drawing/2014/main" id="{917A230E-8FB4-897C-8836-FD37F29481D7}"/>
              </a:ext>
            </a:extLst>
          </p:cNvPr>
          <p:cNvSpPr txBox="1"/>
          <p:nvPr/>
        </p:nvSpPr>
        <p:spPr>
          <a:xfrm>
            <a:off x="2140644" y="5686038"/>
            <a:ext cx="1776448" cy="307777"/>
          </a:xfrm>
          <a:prstGeom prst="rect">
            <a:avLst/>
          </a:prstGeom>
          <a:noFill/>
        </p:spPr>
        <p:txBody>
          <a:bodyPr wrap="none" rtlCol="0">
            <a:spAutoFit/>
          </a:bodyPr>
          <a:lstStyle/>
          <a:p>
            <a:r>
              <a:rPr lang="en-US" dirty="0" err="1"/>
              <a:t>GetDataResponse</a:t>
            </a:r>
            <a:r>
              <a:rPr lang="en-US" dirty="0"/>
              <a:t>()</a:t>
            </a:r>
          </a:p>
        </p:txBody>
      </p:sp>
      <p:sp>
        <p:nvSpPr>
          <p:cNvPr id="2" name="Text Placeholder 2">
            <a:extLst>
              <a:ext uri="{FF2B5EF4-FFF2-40B4-BE49-F238E27FC236}">
                <a16:creationId xmlns:a16="http://schemas.microsoft.com/office/drawing/2014/main" id="{71674F1B-23AC-7A0D-E984-4A316BB67EC6}"/>
              </a:ext>
            </a:extLst>
          </p:cNvPr>
          <p:cNvSpPr txBox="1">
            <a:spLocks/>
          </p:cNvSpPr>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r>
              <a:rPr lang="en-US" sz="2800" dirty="0"/>
              <a:t>Message Communication Design</a:t>
            </a:r>
          </a:p>
        </p:txBody>
      </p:sp>
    </p:spTree>
    <p:extLst>
      <p:ext uri="{BB962C8B-B14F-4D97-AF65-F5344CB8AC3E}">
        <p14:creationId xmlns:p14="http://schemas.microsoft.com/office/powerpoint/2010/main" val="31725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CF200B0-C787-6963-B3D9-741299A0D535}"/>
              </a:ext>
            </a:extLst>
          </p:cNvPr>
          <p:cNvSpPr>
            <a:spLocks noGrp="1"/>
          </p:cNvSpPr>
          <p:nvPr>
            <p:ph type="body" idx="2"/>
          </p:nvPr>
        </p:nvSpPr>
        <p:spPr>
          <a:xfrm>
            <a:off x="108856" y="108857"/>
            <a:ext cx="7717973" cy="1143000"/>
          </a:xfrm>
        </p:spPr>
        <p:txBody>
          <a:bodyPr>
            <a:normAutofit/>
          </a:bodyPr>
          <a:lstStyle/>
          <a:p>
            <a:r>
              <a:rPr lang="en-US" sz="2800" dirty="0"/>
              <a:t>mTLS1.3 b/w </a:t>
            </a:r>
            <a:r>
              <a:rPr lang="en-US" sz="2800" dirty="0" err="1"/>
              <a:t>vOLTMF</a:t>
            </a:r>
            <a:r>
              <a:rPr lang="en-US" sz="2800" dirty="0"/>
              <a:t> &amp; </a:t>
            </a:r>
            <a:r>
              <a:rPr lang="en-US" sz="2800" dirty="0" err="1"/>
              <a:t>vOMCI</a:t>
            </a:r>
            <a:r>
              <a:rPr lang="en-US" sz="2800" dirty="0"/>
              <a:t> Function</a:t>
            </a:r>
          </a:p>
        </p:txBody>
      </p:sp>
      <p:pic>
        <p:nvPicPr>
          <p:cNvPr id="5" name="Picture 4">
            <a:extLst>
              <a:ext uri="{FF2B5EF4-FFF2-40B4-BE49-F238E27FC236}">
                <a16:creationId xmlns:a16="http://schemas.microsoft.com/office/drawing/2014/main" id="{74E5C536-5F22-7CC0-6F4E-08C544C7540E}"/>
              </a:ext>
            </a:extLst>
          </p:cNvPr>
          <p:cNvPicPr>
            <a:picLocks noChangeAspect="1"/>
          </p:cNvPicPr>
          <p:nvPr/>
        </p:nvPicPr>
        <p:blipFill>
          <a:blip r:embed="rId2"/>
          <a:stretch>
            <a:fillRect/>
          </a:stretch>
        </p:blipFill>
        <p:spPr>
          <a:xfrm>
            <a:off x="682899" y="2040981"/>
            <a:ext cx="8341357" cy="4284632"/>
          </a:xfrm>
          <a:prstGeom prst="rect">
            <a:avLst/>
          </a:prstGeom>
        </p:spPr>
      </p:pic>
      <p:graphicFrame>
        <p:nvGraphicFramePr>
          <p:cNvPr id="6" name="Object 5">
            <a:extLst>
              <a:ext uri="{FF2B5EF4-FFF2-40B4-BE49-F238E27FC236}">
                <a16:creationId xmlns:a16="http://schemas.microsoft.com/office/drawing/2014/main" id="{E17B15D2-E503-D2FF-8B86-5934796012BB}"/>
              </a:ext>
            </a:extLst>
          </p:cNvPr>
          <p:cNvGraphicFramePr>
            <a:graphicFrameLocks noChangeAspect="1"/>
          </p:cNvGraphicFramePr>
          <p:nvPr>
            <p:extLst>
              <p:ext uri="{D42A27DB-BD31-4B8C-83A1-F6EECF244321}">
                <p14:modId xmlns:p14="http://schemas.microsoft.com/office/powerpoint/2010/main" val="602973159"/>
              </p:ext>
            </p:extLst>
          </p:nvPr>
        </p:nvGraphicFramePr>
        <p:xfrm>
          <a:off x="3015117" y="1513931"/>
          <a:ext cx="216535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165362" imgH="527234" progId="Package">
                  <p:embed/>
                </p:oleObj>
              </mc:Choice>
              <mc:Fallback>
                <p:oleObj name="Packager Shell Object" showAsIcon="1" r:id="rId3" imgW="2165362" imgH="527234" progId="Package">
                  <p:embed/>
                  <p:pic>
                    <p:nvPicPr>
                      <p:cNvPr id="0" name=""/>
                      <p:cNvPicPr/>
                      <p:nvPr/>
                    </p:nvPicPr>
                    <p:blipFill>
                      <a:blip r:embed="rId4"/>
                      <a:stretch>
                        <a:fillRect/>
                      </a:stretch>
                    </p:blipFill>
                    <p:spPr>
                      <a:xfrm>
                        <a:off x="3015117" y="1513931"/>
                        <a:ext cx="2165350" cy="527050"/>
                      </a:xfrm>
                      <a:prstGeom prst="rect">
                        <a:avLst/>
                      </a:prstGeom>
                    </p:spPr>
                  </p:pic>
                </p:oleObj>
              </mc:Fallback>
            </mc:AlternateContent>
          </a:graphicData>
        </a:graphic>
      </p:graphicFrame>
    </p:spTree>
    <p:extLst>
      <p:ext uri="{BB962C8B-B14F-4D97-AF65-F5344CB8AC3E}">
        <p14:creationId xmlns:p14="http://schemas.microsoft.com/office/powerpoint/2010/main" val="2711103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5DD6-3E40-D2CD-4B42-9ECE6496695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F0F81FD-1DFD-8797-A632-C62620842AEC}"/>
              </a:ext>
            </a:extLst>
          </p:cNvPr>
          <p:cNvSpPr>
            <a:spLocks noGrp="1"/>
          </p:cNvSpPr>
          <p:nvPr>
            <p:ph type="body" idx="2"/>
          </p:nvPr>
        </p:nvSpPr>
        <p:spPr>
          <a:xfrm>
            <a:off x="-1" y="185057"/>
            <a:ext cx="7424057" cy="1143000"/>
          </a:xfrm>
        </p:spPr>
        <p:txBody>
          <a:bodyPr>
            <a:normAutofit/>
          </a:bodyPr>
          <a:lstStyle/>
          <a:p>
            <a:r>
              <a:rPr lang="en-US" sz="2400" dirty="0"/>
              <a:t>mTLS1.3 b/w </a:t>
            </a:r>
            <a:r>
              <a:rPr lang="en-US" sz="2400" dirty="0" err="1"/>
              <a:t>vOMCI</a:t>
            </a:r>
            <a:r>
              <a:rPr lang="en-US" sz="2400" dirty="0"/>
              <a:t> Function &amp; </a:t>
            </a:r>
            <a:r>
              <a:rPr lang="en-US" sz="2400" dirty="0" err="1"/>
              <a:t>vOMCI</a:t>
            </a:r>
            <a:r>
              <a:rPr lang="en-US" sz="2400" dirty="0"/>
              <a:t> Proxy</a:t>
            </a:r>
          </a:p>
        </p:txBody>
      </p:sp>
      <p:pic>
        <p:nvPicPr>
          <p:cNvPr id="4" name="Picture 3">
            <a:extLst>
              <a:ext uri="{FF2B5EF4-FFF2-40B4-BE49-F238E27FC236}">
                <a16:creationId xmlns:a16="http://schemas.microsoft.com/office/drawing/2014/main" id="{D895999F-678B-E6C1-21CF-24ADA6E4FDB7}"/>
              </a:ext>
            </a:extLst>
          </p:cNvPr>
          <p:cNvPicPr>
            <a:picLocks noChangeAspect="1"/>
          </p:cNvPicPr>
          <p:nvPr/>
        </p:nvPicPr>
        <p:blipFill>
          <a:blip r:embed="rId2"/>
          <a:stretch>
            <a:fillRect/>
          </a:stretch>
        </p:blipFill>
        <p:spPr>
          <a:xfrm>
            <a:off x="304800" y="1945273"/>
            <a:ext cx="8371114" cy="4407055"/>
          </a:xfrm>
          <a:prstGeom prst="rect">
            <a:avLst/>
          </a:prstGeom>
        </p:spPr>
      </p:pic>
      <p:graphicFrame>
        <p:nvGraphicFramePr>
          <p:cNvPr id="6" name="Object 5">
            <a:extLst>
              <a:ext uri="{FF2B5EF4-FFF2-40B4-BE49-F238E27FC236}">
                <a16:creationId xmlns:a16="http://schemas.microsoft.com/office/drawing/2014/main" id="{25E3AAA1-DCAB-9453-9000-A0A3F7C7032A}"/>
              </a:ext>
            </a:extLst>
          </p:cNvPr>
          <p:cNvGraphicFramePr>
            <a:graphicFrameLocks noChangeAspect="1"/>
          </p:cNvGraphicFramePr>
          <p:nvPr>
            <p:extLst>
              <p:ext uri="{D42A27DB-BD31-4B8C-83A1-F6EECF244321}">
                <p14:modId xmlns:p14="http://schemas.microsoft.com/office/powerpoint/2010/main" val="1594759227"/>
              </p:ext>
            </p:extLst>
          </p:nvPr>
        </p:nvGraphicFramePr>
        <p:xfrm>
          <a:off x="2884942" y="1491153"/>
          <a:ext cx="248285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482986" imgH="527234" progId="Package">
                  <p:embed/>
                </p:oleObj>
              </mc:Choice>
              <mc:Fallback>
                <p:oleObj name="Packager Shell Object" showAsIcon="1" r:id="rId3" imgW="2482986" imgH="527234" progId="Package">
                  <p:embed/>
                  <p:pic>
                    <p:nvPicPr>
                      <p:cNvPr id="0" name=""/>
                      <p:cNvPicPr/>
                      <p:nvPr/>
                    </p:nvPicPr>
                    <p:blipFill>
                      <a:blip r:embed="rId4"/>
                      <a:stretch>
                        <a:fillRect/>
                      </a:stretch>
                    </p:blipFill>
                    <p:spPr>
                      <a:xfrm>
                        <a:off x="2884942" y="1491153"/>
                        <a:ext cx="2482850" cy="527050"/>
                      </a:xfrm>
                      <a:prstGeom prst="rect">
                        <a:avLst/>
                      </a:prstGeom>
                    </p:spPr>
                  </p:pic>
                </p:oleObj>
              </mc:Fallback>
            </mc:AlternateContent>
          </a:graphicData>
        </a:graphic>
      </p:graphicFrame>
    </p:spTree>
    <p:extLst>
      <p:ext uri="{BB962C8B-B14F-4D97-AF65-F5344CB8AC3E}">
        <p14:creationId xmlns:p14="http://schemas.microsoft.com/office/powerpoint/2010/main" val="2978610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E73C949-F5AF-35F3-B5A5-07ECE8DD34E1}"/>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6AB4B5A-C68C-02FE-2F6E-B4D6467AC4D4}"/>
              </a:ext>
            </a:extLst>
          </p:cNvPr>
          <p:cNvSpPr/>
          <p:nvPr/>
        </p:nvSpPr>
        <p:spPr>
          <a:xfrm>
            <a:off x="3309257" y="1434191"/>
            <a:ext cx="1436914" cy="620486"/>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vOMCI</a:t>
            </a:r>
            <a:r>
              <a:rPr lang="en-US" dirty="0"/>
              <a:t> Module</a:t>
            </a:r>
          </a:p>
        </p:txBody>
      </p:sp>
      <p:cxnSp>
        <p:nvCxnSpPr>
          <p:cNvPr id="17" name="Straight Arrow Connector 16">
            <a:extLst>
              <a:ext uri="{FF2B5EF4-FFF2-40B4-BE49-F238E27FC236}">
                <a16:creationId xmlns:a16="http://schemas.microsoft.com/office/drawing/2014/main" id="{FA78294B-3E42-139D-11E1-2242DBC1EB1E}"/>
              </a:ext>
            </a:extLst>
          </p:cNvPr>
          <p:cNvCxnSpPr>
            <a:cxnSpLocks/>
          </p:cNvCxnSpPr>
          <p:nvPr/>
        </p:nvCxnSpPr>
        <p:spPr>
          <a:xfrm>
            <a:off x="3880757" y="2054677"/>
            <a:ext cx="5443" cy="43352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Arrow: Curved Left 2">
            <a:extLst>
              <a:ext uri="{FF2B5EF4-FFF2-40B4-BE49-F238E27FC236}">
                <a16:creationId xmlns:a16="http://schemas.microsoft.com/office/drawing/2014/main" id="{3B85D235-0FDA-DAAB-EBC6-617D7FCAFACB}"/>
              </a:ext>
            </a:extLst>
          </p:cNvPr>
          <p:cNvSpPr/>
          <p:nvPr/>
        </p:nvSpPr>
        <p:spPr>
          <a:xfrm>
            <a:off x="3869871" y="2250620"/>
            <a:ext cx="707571" cy="45720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Connector 15">
            <a:extLst>
              <a:ext uri="{FF2B5EF4-FFF2-40B4-BE49-F238E27FC236}">
                <a16:creationId xmlns:a16="http://schemas.microsoft.com/office/drawing/2014/main" id="{6429C933-8CA4-D92D-18AA-C17E8FEC0C44}"/>
              </a:ext>
            </a:extLst>
          </p:cNvPr>
          <p:cNvCxnSpPr/>
          <p:nvPr/>
        </p:nvCxnSpPr>
        <p:spPr>
          <a:xfrm>
            <a:off x="3886198" y="3238500"/>
            <a:ext cx="4680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CA25A02E-2917-B214-E9F1-085059831CAE}"/>
              </a:ext>
            </a:extLst>
          </p:cNvPr>
          <p:cNvCxnSpPr>
            <a:cxnSpLocks/>
          </p:cNvCxnSpPr>
          <p:nvPr/>
        </p:nvCxnSpPr>
        <p:spPr>
          <a:xfrm>
            <a:off x="4354284" y="3238500"/>
            <a:ext cx="10885" cy="43542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FEDAAC0-5B2C-229B-2CBC-B84687961531}"/>
              </a:ext>
            </a:extLst>
          </p:cNvPr>
          <p:cNvCxnSpPr/>
          <p:nvPr/>
        </p:nvCxnSpPr>
        <p:spPr>
          <a:xfrm flipH="1">
            <a:off x="3886198" y="3673928"/>
            <a:ext cx="46808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BE60E6C-4E46-9771-2DCF-A0D9EB055CE0}"/>
              </a:ext>
            </a:extLst>
          </p:cNvPr>
          <p:cNvCxnSpPr/>
          <p:nvPr/>
        </p:nvCxnSpPr>
        <p:spPr>
          <a:xfrm>
            <a:off x="3053442" y="4098471"/>
            <a:ext cx="8164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Arrow: Curved Left 31">
            <a:extLst>
              <a:ext uri="{FF2B5EF4-FFF2-40B4-BE49-F238E27FC236}">
                <a16:creationId xmlns:a16="http://schemas.microsoft.com/office/drawing/2014/main" id="{2E418C32-2128-9C1C-C66B-06C97B742B26}"/>
              </a:ext>
            </a:extLst>
          </p:cNvPr>
          <p:cNvSpPr/>
          <p:nvPr/>
        </p:nvSpPr>
        <p:spPr>
          <a:xfrm>
            <a:off x="3886198" y="5021037"/>
            <a:ext cx="707571" cy="45720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TextBox 34">
            <a:extLst>
              <a:ext uri="{FF2B5EF4-FFF2-40B4-BE49-F238E27FC236}">
                <a16:creationId xmlns:a16="http://schemas.microsoft.com/office/drawing/2014/main" id="{677B85FF-1F03-B724-1B3B-42E26D5A99EC}"/>
              </a:ext>
            </a:extLst>
          </p:cNvPr>
          <p:cNvSpPr txBox="1"/>
          <p:nvPr/>
        </p:nvSpPr>
        <p:spPr>
          <a:xfrm>
            <a:off x="4544973" y="2217610"/>
            <a:ext cx="1774845" cy="430887"/>
          </a:xfrm>
          <a:prstGeom prst="rect">
            <a:avLst/>
          </a:prstGeom>
          <a:noFill/>
        </p:spPr>
        <p:txBody>
          <a:bodyPr wrap="none" rtlCol="0">
            <a:spAutoFit/>
          </a:bodyPr>
          <a:lstStyle/>
          <a:p>
            <a:r>
              <a:rPr lang="en-US" sz="1100" dirty="0"/>
              <a:t>Load </a:t>
            </a:r>
            <a:r>
              <a:rPr lang="en-US" sz="1100" dirty="0" err="1"/>
              <a:t>vOMCI</a:t>
            </a:r>
            <a:r>
              <a:rPr lang="en-US" sz="1100" dirty="0"/>
              <a:t> Func</a:t>
            </a:r>
          </a:p>
          <a:p>
            <a:r>
              <a:rPr lang="en-US" sz="1100" dirty="0"/>
              <a:t>Client &amp; Server certificate</a:t>
            </a:r>
          </a:p>
        </p:txBody>
      </p:sp>
      <p:sp>
        <p:nvSpPr>
          <p:cNvPr id="39" name="TextBox 38">
            <a:extLst>
              <a:ext uri="{FF2B5EF4-FFF2-40B4-BE49-F238E27FC236}">
                <a16:creationId xmlns:a16="http://schemas.microsoft.com/office/drawing/2014/main" id="{F17DE194-60CC-CB0F-3979-7087C3B14A89}"/>
              </a:ext>
            </a:extLst>
          </p:cNvPr>
          <p:cNvSpPr txBox="1"/>
          <p:nvPr/>
        </p:nvSpPr>
        <p:spPr>
          <a:xfrm>
            <a:off x="4392755" y="3125764"/>
            <a:ext cx="1374094" cy="600164"/>
          </a:xfrm>
          <a:prstGeom prst="rect">
            <a:avLst/>
          </a:prstGeom>
          <a:noFill/>
        </p:spPr>
        <p:txBody>
          <a:bodyPr wrap="none" rtlCol="0">
            <a:spAutoFit/>
          </a:bodyPr>
          <a:lstStyle/>
          <a:p>
            <a:r>
              <a:rPr lang="en-US" sz="1100" dirty="0"/>
              <a:t>GO Routine</a:t>
            </a:r>
          </a:p>
          <a:p>
            <a:r>
              <a:rPr lang="en-US" sz="1100" dirty="0"/>
              <a:t>Watches certificate</a:t>
            </a:r>
          </a:p>
          <a:p>
            <a:r>
              <a:rPr lang="en-US" sz="1100" dirty="0"/>
              <a:t>folder</a:t>
            </a:r>
          </a:p>
        </p:txBody>
      </p:sp>
      <p:sp>
        <p:nvSpPr>
          <p:cNvPr id="43" name="TextBox 42">
            <a:extLst>
              <a:ext uri="{FF2B5EF4-FFF2-40B4-BE49-F238E27FC236}">
                <a16:creationId xmlns:a16="http://schemas.microsoft.com/office/drawing/2014/main" id="{D7C01651-1BB0-75F6-2402-85E671BB20B3}"/>
              </a:ext>
            </a:extLst>
          </p:cNvPr>
          <p:cNvSpPr txBox="1"/>
          <p:nvPr/>
        </p:nvSpPr>
        <p:spPr>
          <a:xfrm>
            <a:off x="2443654" y="3777203"/>
            <a:ext cx="1342034" cy="430887"/>
          </a:xfrm>
          <a:prstGeom prst="rect">
            <a:avLst/>
          </a:prstGeom>
          <a:noFill/>
        </p:spPr>
        <p:txBody>
          <a:bodyPr wrap="none" rtlCol="0">
            <a:spAutoFit/>
          </a:bodyPr>
          <a:lstStyle/>
          <a:p>
            <a:r>
              <a:rPr lang="en-US" sz="1100" dirty="0"/>
              <a:t>Event of certificate</a:t>
            </a:r>
          </a:p>
          <a:p>
            <a:r>
              <a:rPr lang="en-US" sz="1100" dirty="0"/>
              <a:t>change</a:t>
            </a:r>
          </a:p>
        </p:txBody>
      </p:sp>
      <p:sp>
        <p:nvSpPr>
          <p:cNvPr id="47" name="TextBox 46">
            <a:extLst>
              <a:ext uri="{FF2B5EF4-FFF2-40B4-BE49-F238E27FC236}">
                <a16:creationId xmlns:a16="http://schemas.microsoft.com/office/drawing/2014/main" id="{1C82B3F6-346D-EE6E-77BE-FF7B95979FEB}"/>
              </a:ext>
            </a:extLst>
          </p:cNvPr>
          <p:cNvSpPr txBox="1"/>
          <p:nvPr/>
        </p:nvSpPr>
        <p:spPr>
          <a:xfrm>
            <a:off x="3940806" y="4505273"/>
            <a:ext cx="1774845" cy="430887"/>
          </a:xfrm>
          <a:prstGeom prst="rect">
            <a:avLst/>
          </a:prstGeom>
          <a:noFill/>
        </p:spPr>
        <p:txBody>
          <a:bodyPr wrap="none" rtlCol="0">
            <a:spAutoFit/>
          </a:bodyPr>
          <a:lstStyle/>
          <a:p>
            <a:r>
              <a:rPr lang="en-US" sz="1100" dirty="0"/>
              <a:t>Re-Load </a:t>
            </a:r>
            <a:r>
              <a:rPr lang="en-US" sz="1100" dirty="0" err="1"/>
              <a:t>vOMCI</a:t>
            </a:r>
            <a:r>
              <a:rPr lang="en-US" sz="1100" dirty="0"/>
              <a:t> Func</a:t>
            </a:r>
          </a:p>
          <a:p>
            <a:r>
              <a:rPr lang="en-US" sz="1100" dirty="0"/>
              <a:t>Client &amp; Server certificate</a:t>
            </a:r>
          </a:p>
        </p:txBody>
      </p:sp>
      <p:sp>
        <p:nvSpPr>
          <p:cNvPr id="2" name="Text Placeholder 2">
            <a:extLst>
              <a:ext uri="{FF2B5EF4-FFF2-40B4-BE49-F238E27FC236}">
                <a16:creationId xmlns:a16="http://schemas.microsoft.com/office/drawing/2014/main" id="{FEAA1AA7-9C55-92C1-0A57-AEBE86E167F0}"/>
              </a:ext>
            </a:extLst>
          </p:cNvPr>
          <p:cNvSpPr txBox="1">
            <a:spLocks/>
          </p:cNvSpPr>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r>
              <a:rPr lang="en-US" dirty="0"/>
              <a:t>Certificate Rotation Design</a:t>
            </a:r>
          </a:p>
        </p:txBody>
      </p:sp>
    </p:spTree>
    <p:extLst>
      <p:ext uri="{BB962C8B-B14F-4D97-AF65-F5344CB8AC3E}">
        <p14:creationId xmlns:p14="http://schemas.microsoft.com/office/powerpoint/2010/main" val="3234376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9CB6220A-B58E-C056-BC84-7F525C2B3035}"/>
            </a:ext>
          </a:extLst>
        </p:cNvPr>
        <p:cNvGrpSpPr/>
        <p:nvPr/>
      </p:nvGrpSpPr>
      <p:grpSpPr>
        <a:xfrm>
          <a:off x="0" y="0"/>
          <a:ext cx="0" cy="0"/>
          <a:chOff x="0" y="0"/>
          <a:chExt cx="0" cy="0"/>
        </a:xfrm>
      </p:grpSpPr>
      <p:sp>
        <p:nvSpPr>
          <p:cNvPr id="2" name="Text Placeholder 2">
            <a:extLst>
              <a:ext uri="{FF2B5EF4-FFF2-40B4-BE49-F238E27FC236}">
                <a16:creationId xmlns:a16="http://schemas.microsoft.com/office/drawing/2014/main" id="{84DF5485-81A9-2012-F63B-8B96D7647053}"/>
              </a:ext>
            </a:extLst>
          </p:cNvPr>
          <p:cNvSpPr txBox="1">
            <a:spLocks/>
          </p:cNvSpPr>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r>
              <a:rPr lang="en-US" dirty="0"/>
              <a:t>TLS-PSK with Machine Learning Key</a:t>
            </a:r>
          </a:p>
        </p:txBody>
      </p:sp>
      <p:sp>
        <p:nvSpPr>
          <p:cNvPr id="4" name="TextBox 3">
            <a:extLst>
              <a:ext uri="{FF2B5EF4-FFF2-40B4-BE49-F238E27FC236}">
                <a16:creationId xmlns:a16="http://schemas.microsoft.com/office/drawing/2014/main" id="{CDDEE116-B00E-DC8C-B81D-1AF925D3A1BD}"/>
              </a:ext>
            </a:extLst>
          </p:cNvPr>
          <p:cNvSpPr txBox="1"/>
          <p:nvPr/>
        </p:nvSpPr>
        <p:spPr>
          <a:xfrm>
            <a:off x="118772" y="1821366"/>
            <a:ext cx="9228808" cy="3323987"/>
          </a:xfrm>
          <a:prstGeom prst="rect">
            <a:avLst/>
          </a:prstGeom>
          <a:noFill/>
        </p:spPr>
        <p:txBody>
          <a:bodyPr wrap="none" rtlCol="0">
            <a:spAutoFit/>
          </a:bodyPr>
          <a:lstStyle/>
          <a:p>
            <a:pPr marL="285750" indent="-285750">
              <a:buFont typeface="Arial" panose="020B0604020202020204" pitchFamily="34" charset="0"/>
              <a:buChar char="•"/>
            </a:pPr>
            <a:r>
              <a:rPr lang="en-US" dirty="0"/>
              <a:t>A novel idea for use cases where the certificates don’t want to be used but rather if the operator decides to </a:t>
            </a:r>
          </a:p>
          <a:p>
            <a:r>
              <a:rPr lang="en-US" dirty="0"/>
              <a:t>use PSK in TLS, the operator needs a method to generate a random PSK. </a:t>
            </a:r>
          </a:p>
          <a:p>
            <a:pPr marL="285750" indent="-285750">
              <a:buFont typeface="Arial" panose="020B0604020202020204" pitchFamily="34" charset="0"/>
              <a:buChar char="•"/>
            </a:pPr>
            <a:r>
              <a:rPr lang="en-US" dirty="0"/>
              <a:t>However, any random generator can provide the unique set of PSK. But the operator needs to understand</a:t>
            </a:r>
          </a:p>
          <a:p>
            <a:r>
              <a:rPr lang="en-US" dirty="0"/>
              <a:t>the required randomness in the key to basically deploy in production which requires evaluation of the keys</a:t>
            </a:r>
          </a:p>
          <a:p>
            <a:r>
              <a:rPr lang="en-US" dirty="0"/>
              <a:t>generated through a known method. </a:t>
            </a:r>
          </a:p>
          <a:p>
            <a:pPr marL="285750" indent="-285750">
              <a:buFont typeface="Arial" panose="020B0604020202020204" pitchFamily="34" charset="0"/>
              <a:buChar char="•"/>
            </a:pPr>
            <a:r>
              <a:rPr lang="en-US" dirty="0"/>
              <a:t>If no benchmarks available then the key can be susceptible to attacks  which can lead to compromise of </a:t>
            </a:r>
          </a:p>
          <a:p>
            <a:r>
              <a:rPr lang="en-US" dirty="0"/>
              <a:t>PSK  key. </a:t>
            </a:r>
          </a:p>
          <a:p>
            <a:pPr marL="285750" indent="-285750">
              <a:buFont typeface="Arial" panose="020B0604020202020204" pitchFamily="34" charset="0"/>
              <a:buChar char="•"/>
            </a:pPr>
            <a:r>
              <a:rPr lang="en-US" dirty="0"/>
              <a:t>Thus this novel idea proposes to use the machine learning  algorithm using Robust Tensor Decomposition </a:t>
            </a:r>
          </a:p>
          <a:p>
            <a:r>
              <a:rPr lang="en-US" dirty="0"/>
              <a:t>with neural network to generate a key sequence of high entropy, which will be used in TLS as the Pre-Shared</a:t>
            </a:r>
          </a:p>
          <a:p>
            <a:r>
              <a:rPr lang="en-US" dirty="0"/>
              <a:t>Key.</a:t>
            </a:r>
          </a:p>
          <a:p>
            <a:pPr marL="285750" indent="-285750">
              <a:buFont typeface="Arial" panose="020B0604020202020204" pitchFamily="34" charset="0"/>
              <a:buChar char="•"/>
            </a:pPr>
            <a:r>
              <a:rPr lang="en-US" dirty="0"/>
              <a:t>However, the chaotic key sequence obtained from the model is a huge data and to use the entire data as PSK</a:t>
            </a:r>
          </a:p>
          <a:p>
            <a:r>
              <a:rPr lang="en-US" dirty="0"/>
              <a:t>in TLS is not a feasible option, since, the OpenSSL Library used supports only 256 bytes of data. So, we introduce</a:t>
            </a:r>
          </a:p>
          <a:p>
            <a:r>
              <a:rPr lang="en-US" dirty="0"/>
              <a:t>a mechanism to cycle the chaotic sequence  in the same order of 256 byte between client and server so that </a:t>
            </a:r>
          </a:p>
          <a:p>
            <a:r>
              <a:rPr lang="en-US" dirty="0"/>
              <a:t>both modules use same key at every connection making sure successful authentication is possible between </a:t>
            </a:r>
          </a:p>
          <a:p>
            <a:r>
              <a:rPr lang="en-US" dirty="0"/>
              <a:t>the modules also ensuring that the PSK method in TLS is achieved. </a:t>
            </a:r>
          </a:p>
        </p:txBody>
      </p:sp>
    </p:spTree>
    <p:extLst>
      <p:ext uri="{BB962C8B-B14F-4D97-AF65-F5344CB8AC3E}">
        <p14:creationId xmlns:p14="http://schemas.microsoft.com/office/powerpoint/2010/main" val="1144300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F493BEC7-6576-DC1A-A0AA-4A98793ABA98}"/>
            </a:ext>
          </a:extLst>
        </p:cNvPr>
        <p:cNvGrpSpPr/>
        <p:nvPr/>
      </p:nvGrpSpPr>
      <p:grpSpPr>
        <a:xfrm>
          <a:off x="0" y="0"/>
          <a:ext cx="0" cy="0"/>
          <a:chOff x="0" y="0"/>
          <a:chExt cx="0" cy="0"/>
        </a:xfrm>
      </p:grpSpPr>
      <p:sp>
        <p:nvSpPr>
          <p:cNvPr id="2" name="Text Placeholder 2">
            <a:extLst>
              <a:ext uri="{FF2B5EF4-FFF2-40B4-BE49-F238E27FC236}">
                <a16:creationId xmlns:a16="http://schemas.microsoft.com/office/drawing/2014/main" id="{15FA875B-94ED-4989-51C6-448AFB922839}"/>
              </a:ext>
            </a:extLst>
          </p:cNvPr>
          <p:cNvSpPr txBox="1">
            <a:spLocks/>
          </p:cNvSpPr>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r>
              <a:rPr lang="en-US" dirty="0"/>
              <a:t>Results of TLS-PSK</a:t>
            </a:r>
          </a:p>
        </p:txBody>
      </p:sp>
      <p:pic>
        <p:nvPicPr>
          <p:cNvPr id="3" name="Picture 2" descr="A screenshot of a computer&#10;&#10;AI-generated content may be incorrect.">
            <a:extLst>
              <a:ext uri="{FF2B5EF4-FFF2-40B4-BE49-F238E27FC236}">
                <a16:creationId xmlns:a16="http://schemas.microsoft.com/office/drawing/2014/main" id="{2558188C-6B3D-99D7-90F7-41FAF55BA8F5}"/>
              </a:ext>
            </a:extLst>
          </p:cNvPr>
          <p:cNvPicPr>
            <a:picLocks noChangeAspect="1"/>
          </p:cNvPicPr>
          <p:nvPr/>
        </p:nvPicPr>
        <p:blipFill>
          <a:blip r:embed="rId3"/>
          <a:stretch>
            <a:fillRect/>
          </a:stretch>
        </p:blipFill>
        <p:spPr>
          <a:xfrm>
            <a:off x="1118839" y="4071357"/>
            <a:ext cx="5221178" cy="2419815"/>
          </a:xfrm>
          <a:prstGeom prst="rect">
            <a:avLst/>
          </a:prstGeom>
        </p:spPr>
      </p:pic>
      <p:pic>
        <p:nvPicPr>
          <p:cNvPr id="5" name="Picture 4">
            <a:extLst>
              <a:ext uri="{FF2B5EF4-FFF2-40B4-BE49-F238E27FC236}">
                <a16:creationId xmlns:a16="http://schemas.microsoft.com/office/drawing/2014/main" id="{1A269B9F-7A2A-541E-9057-F9049F1756D0}"/>
              </a:ext>
            </a:extLst>
          </p:cNvPr>
          <p:cNvPicPr>
            <a:picLocks noChangeAspect="1"/>
          </p:cNvPicPr>
          <p:nvPr/>
        </p:nvPicPr>
        <p:blipFill>
          <a:blip r:embed="rId4"/>
          <a:stretch>
            <a:fillRect/>
          </a:stretch>
        </p:blipFill>
        <p:spPr>
          <a:xfrm>
            <a:off x="1657130" y="1412488"/>
            <a:ext cx="3619940" cy="2541781"/>
          </a:xfrm>
          <a:prstGeom prst="rect">
            <a:avLst/>
          </a:prstGeom>
        </p:spPr>
      </p:pic>
    </p:spTree>
    <p:extLst>
      <p:ext uri="{BB962C8B-B14F-4D97-AF65-F5344CB8AC3E}">
        <p14:creationId xmlns:p14="http://schemas.microsoft.com/office/powerpoint/2010/main" val="1496461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52EE050C-8186-4346-5AE6-404EFF407467}"/>
            </a:ext>
          </a:extLst>
        </p:cNvPr>
        <p:cNvGrpSpPr/>
        <p:nvPr/>
      </p:nvGrpSpPr>
      <p:grpSpPr>
        <a:xfrm>
          <a:off x="0" y="0"/>
          <a:ext cx="0" cy="0"/>
          <a:chOff x="0" y="0"/>
          <a:chExt cx="0" cy="0"/>
        </a:xfrm>
      </p:grpSpPr>
      <p:sp>
        <p:nvSpPr>
          <p:cNvPr id="79" name="Google Shape;79;g373714e7194_0_0">
            <a:extLst>
              <a:ext uri="{FF2B5EF4-FFF2-40B4-BE49-F238E27FC236}">
                <a16:creationId xmlns:a16="http://schemas.microsoft.com/office/drawing/2014/main" id="{67979158-CEE0-4538-EBBA-BB57B85210BE}"/>
              </a:ext>
            </a:extLst>
          </p:cNvPr>
          <p:cNvSpPr txBox="1">
            <a:spLocks noGrp="1"/>
          </p:cNvSpPr>
          <p:nvPr>
            <p:ph type="body" idx="2"/>
          </p:nvPr>
        </p:nvSpPr>
        <p:spPr>
          <a:xfrm>
            <a:off x="304800" y="152400"/>
            <a:ext cx="63246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Thank You </a:t>
            </a:r>
            <a:r>
              <a:rPr lang="en-US" dirty="0">
                <a:sym typeface="Wingdings" panose="05000000000000000000" pitchFamily="2" charset="2"/>
              </a:rPr>
              <a:t> </a:t>
            </a:r>
            <a:endParaRPr dirty="0"/>
          </a:p>
        </p:txBody>
      </p:sp>
      <p:pic>
        <p:nvPicPr>
          <p:cNvPr id="1026" name="Picture 2" descr="Questions And Answers Stock Photo - Download Image Now - iStock">
            <a:extLst>
              <a:ext uri="{FF2B5EF4-FFF2-40B4-BE49-F238E27FC236}">
                <a16:creationId xmlns:a16="http://schemas.microsoft.com/office/drawing/2014/main" id="{F6ABB90D-4E9D-CD12-20FA-3668CFB6C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2540" y="2123300"/>
            <a:ext cx="4562475"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687849"/>
      </p:ext>
    </p:extLst>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1397</TotalTime>
  <Words>1134</Words>
  <Application>Microsoft Office PowerPoint</Application>
  <PresentationFormat>On-screen Show (4:3)</PresentationFormat>
  <Paragraphs>138</Paragraphs>
  <Slides>18</Slides>
  <Notes>13</Notes>
  <HiddenSlides>0</HiddenSlides>
  <MMClips>0</MMClips>
  <ScaleCrop>false</ScaleCrop>
  <HeadingPairs>
    <vt:vector size="8" baseType="variant">
      <vt:variant>
        <vt:lpstr>Fonts Used</vt:lpstr>
      </vt:variant>
      <vt:variant>
        <vt:i4>3</vt:i4>
      </vt:variant>
      <vt:variant>
        <vt:lpstr>Theme</vt:lpstr>
      </vt:variant>
      <vt:variant>
        <vt:i4>3</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Wingdings</vt:lpstr>
      <vt:lpstr>2_Office Theme</vt:lpstr>
      <vt:lpstr>3_Office Theme</vt:lpstr>
      <vt:lpstr>4_Office Theme</vt:lpstr>
      <vt:lpstr>Packager Shell Object</vt:lpstr>
      <vt:lpstr>Dissertation Outline (SSZG628T)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A Jeffrey Marius (Nokia)</cp:lastModifiedBy>
  <cp:revision>10</cp:revision>
  <dcterms:created xsi:type="dcterms:W3CDTF">2011-09-14T09:42:05Z</dcterms:created>
  <dcterms:modified xsi:type="dcterms:W3CDTF">2025-11-19T19:22:22Z</dcterms:modified>
</cp:coreProperties>
</file>